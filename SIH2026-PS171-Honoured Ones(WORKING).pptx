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737" autoAdjust="0"/>
  </p:normalViewPr>
  <p:slideViewPr>
    <p:cSldViewPr snapToGrid="0" snapToObjects="1">
      <p:cViewPr varScale="1">
        <p:scale>
          <a:sx n="79" d="100"/>
          <a:sy n="79" d="100"/>
        </p:scale>
        <p:origin x="396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D3EFEC-996A-486E-AEEA-7881CFEB9408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D3512F-2BDE-4463-85CB-4EB14E2BFC9A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DOM + A11Y+Vision</a:t>
          </a:r>
          <a:endParaRPr lang="en-US" sz="1400" b="1" dirty="0">
            <a:solidFill>
              <a:schemeClr val="tx1"/>
            </a:solidFill>
          </a:endParaRPr>
        </a:p>
      </dgm:t>
    </dgm:pt>
    <dgm:pt modelId="{77728E52-0EDE-487A-8B30-4D871089A4B8}" type="parTrans" cxnId="{A545EEC4-B313-4EA0-AC81-6EE5AEE194BD}">
      <dgm:prSet/>
      <dgm:spPr/>
      <dgm:t>
        <a:bodyPr/>
        <a:lstStyle/>
        <a:p>
          <a:endParaRPr lang="en-US"/>
        </a:p>
      </dgm:t>
    </dgm:pt>
    <dgm:pt modelId="{0021980A-75F5-4C17-8714-0E1447415B43}" type="sibTrans" cxnId="{A545EEC4-B313-4EA0-AC81-6EE5AEE194BD}">
      <dgm:prSet/>
      <dgm:spPr/>
      <dgm:t>
        <a:bodyPr/>
        <a:lstStyle/>
        <a:p>
          <a:endParaRPr lang="en-US"/>
        </a:p>
      </dgm:t>
    </dgm:pt>
    <dgm:pt modelId="{EE9AD45E-E834-47FD-AEC6-D56FCC488FB5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Unified Scene understanding </a:t>
          </a:r>
          <a:endParaRPr lang="en-US" sz="1400" b="1" dirty="0">
            <a:solidFill>
              <a:schemeClr val="tx1"/>
            </a:solidFill>
          </a:endParaRPr>
        </a:p>
      </dgm:t>
    </dgm:pt>
    <dgm:pt modelId="{690E7C9B-0F8A-4E58-AB37-B0FB689D1249}" type="parTrans" cxnId="{E6191683-94DB-486D-8C3B-08775D6FEAA6}">
      <dgm:prSet/>
      <dgm:spPr/>
      <dgm:t>
        <a:bodyPr/>
        <a:lstStyle/>
        <a:p>
          <a:endParaRPr lang="en-US"/>
        </a:p>
      </dgm:t>
    </dgm:pt>
    <dgm:pt modelId="{ABE16FAE-1A73-4CE7-A3C2-07A302F71F9D}" type="sibTrans" cxnId="{E6191683-94DB-486D-8C3B-08775D6FEAA6}">
      <dgm:prSet/>
      <dgm:spPr/>
      <dgm:t>
        <a:bodyPr/>
        <a:lstStyle/>
        <a:p>
          <a:endParaRPr lang="en-US"/>
        </a:p>
      </dgm:t>
    </dgm:pt>
    <dgm:pt modelId="{86517791-155F-4C49-8D6C-E6618A6B18DF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Local PII Detection + Tokenization</a:t>
          </a:r>
          <a:endParaRPr lang="en-US" sz="1400" b="1" dirty="0">
            <a:solidFill>
              <a:schemeClr val="tx1"/>
            </a:solidFill>
          </a:endParaRPr>
        </a:p>
      </dgm:t>
    </dgm:pt>
    <dgm:pt modelId="{98C9E3B5-F52C-41DD-A86A-965CB7602542}" type="parTrans" cxnId="{66C0A545-33BF-4512-A82D-5B2185F264D1}">
      <dgm:prSet/>
      <dgm:spPr/>
      <dgm:t>
        <a:bodyPr/>
        <a:lstStyle/>
        <a:p>
          <a:endParaRPr lang="en-US"/>
        </a:p>
      </dgm:t>
    </dgm:pt>
    <dgm:pt modelId="{5C96E20F-916B-4D33-AADC-9DF3B203BA45}" type="sibTrans" cxnId="{66C0A545-33BF-4512-A82D-5B2185F264D1}">
      <dgm:prSet/>
      <dgm:spPr/>
      <dgm:t>
        <a:bodyPr/>
        <a:lstStyle/>
        <a:p>
          <a:endParaRPr lang="en-US"/>
        </a:p>
      </dgm:t>
    </dgm:pt>
    <dgm:pt modelId="{10C153A8-6F9C-42C4-B133-D2B795A6B5AB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Verified Egress Gate</a:t>
          </a:r>
          <a:endParaRPr lang="en-US" sz="1400" b="1" dirty="0">
            <a:solidFill>
              <a:schemeClr val="tx1"/>
            </a:solidFill>
          </a:endParaRPr>
        </a:p>
      </dgm:t>
    </dgm:pt>
    <dgm:pt modelId="{4526DF35-B9AA-4D36-9A71-F50B6B5081D0}" type="parTrans" cxnId="{9DE3BBBB-9F8D-495E-B024-8F1F6F93F914}">
      <dgm:prSet/>
      <dgm:spPr/>
      <dgm:t>
        <a:bodyPr/>
        <a:lstStyle/>
        <a:p>
          <a:endParaRPr lang="en-US"/>
        </a:p>
      </dgm:t>
    </dgm:pt>
    <dgm:pt modelId="{E9BE6C02-7AC2-4219-A8CF-2641062DFD53}" type="sibTrans" cxnId="{9DE3BBBB-9F8D-495E-B024-8F1F6F93F914}">
      <dgm:prSet/>
      <dgm:spPr/>
      <dgm:t>
        <a:bodyPr/>
        <a:lstStyle/>
        <a:p>
          <a:endParaRPr lang="en-US" dirty="0"/>
        </a:p>
      </dgm:t>
    </dgm:pt>
    <dgm:pt modelId="{33F17198-47E5-4000-9CBE-4698484358B8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Sanitized Context</a:t>
          </a:r>
          <a:endParaRPr lang="en-US" sz="1400" b="1" dirty="0">
            <a:solidFill>
              <a:schemeClr val="tx1"/>
            </a:solidFill>
          </a:endParaRPr>
        </a:p>
      </dgm:t>
    </dgm:pt>
    <dgm:pt modelId="{DA0CC74F-4C5A-44CD-8A07-FF0B8E7A6DE5}" type="parTrans" cxnId="{B8D87005-F78E-4EC7-8704-90DCE9E2E32C}">
      <dgm:prSet/>
      <dgm:spPr/>
      <dgm:t>
        <a:bodyPr/>
        <a:lstStyle/>
        <a:p>
          <a:endParaRPr lang="en-US"/>
        </a:p>
      </dgm:t>
    </dgm:pt>
    <dgm:pt modelId="{2732166A-32B2-46C4-9E3F-0C5EC081F5AD}" type="sibTrans" cxnId="{B8D87005-F78E-4EC7-8704-90DCE9E2E32C}">
      <dgm:prSet/>
      <dgm:spPr/>
      <dgm:t>
        <a:bodyPr/>
        <a:lstStyle/>
        <a:p>
          <a:endParaRPr lang="en-US"/>
        </a:p>
      </dgm:t>
    </dgm:pt>
    <dgm:pt modelId="{A754B24B-633C-4C02-A384-AE33DEB766DD}">
      <dgm:prSet/>
      <dgm:spPr/>
      <dgm:t>
        <a:bodyPr/>
        <a:lstStyle/>
        <a:p>
          <a:endParaRPr lang="en-US"/>
        </a:p>
      </dgm:t>
    </dgm:pt>
    <dgm:pt modelId="{1A29ECD1-736B-41B3-B7AC-346B5A17C48F}" type="parTrans" cxnId="{36B29984-48E4-4BD4-AAC2-524B87C9DF11}">
      <dgm:prSet/>
      <dgm:spPr/>
      <dgm:t>
        <a:bodyPr/>
        <a:lstStyle/>
        <a:p>
          <a:endParaRPr lang="en-US"/>
        </a:p>
      </dgm:t>
    </dgm:pt>
    <dgm:pt modelId="{4DBFA19E-A59B-4701-9C54-F66536E7D88A}" type="sibTrans" cxnId="{36B29984-48E4-4BD4-AAC2-524B87C9DF11}">
      <dgm:prSet/>
      <dgm:spPr/>
      <dgm:t>
        <a:bodyPr/>
        <a:lstStyle/>
        <a:p>
          <a:endParaRPr lang="en-US"/>
        </a:p>
      </dgm:t>
    </dgm:pt>
    <dgm:pt modelId="{47C2167D-3EBE-4E9F-A791-6B44C6AC026F}" type="pres">
      <dgm:prSet presAssocID="{7DD3EFEC-996A-486E-AEEA-7881CFEB940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117732-5047-453C-AE6E-F8C24BEBCD51}" type="pres">
      <dgm:prSet presAssocID="{CCD3512F-2BDE-4463-85CB-4EB14E2BFC9A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C04AD7-2DEB-4B0D-BAA2-38EEB955933D}" type="pres">
      <dgm:prSet presAssocID="{0021980A-75F5-4C17-8714-0E1447415B43}" presName="sibTrans" presStyleLbl="sibTrans1D1" presStyleIdx="0" presStyleCnt="5"/>
      <dgm:spPr/>
      <dgm:t>
        <a:bodyPr/>
        <a:lstStyle/>
        <a:p>
          <a:endParaRPr lang="en-US"/>
        </a:p>
      </dgm:t>
    </dgm:pt>
    <dgm:pt modelId="{B5EEC3F9-8363-47FB-AC9A-E29DBB464DFF}" type="pres">
      <dgm:prSet presAssocID="{0021980A-75F5-4C17-8714-0E1447415B43}" presName="connectorText" presStyleLbl="sibTrans1D1" presStyleIdx="0" presStyleCnt="5"/>
      <dgm:spPr/>
      <dgm:t>
        <a:bodyPr/>
        <a:lstStyle/>
        <a:p>
          <a:endParaRPr lang="en-US"/>
        </a:p>
      </dgm:t>
    </dgm:pt>
    <dgm:pt modelId="{A9859C0D-DC58-411A-B55F-D82E6C621A05}" type="pres">
      <dgm:prSet presAssocID="{EE9AD45E-E834-47FD-AEC6-D56FCC488FB5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C3FC4E-31B1-45BA-898F-F0A7EF9ED734}" type="pres">
      <dgm:prSet presAssocID="{ABE16FAE-1A73-4CE7-A3C2-07A302F71F9D}" presName="sibTrans" presStyleLbl="sibTrans1D1" presStyleIdx="1" presStyleCnt="5"/>
      <dgm:spPr/>
      <dgm:t>
        <a:bodyPr/>
        <a:lstStyle/>
        <a:p>
          <a:endParaRPr lang="en-US"/>
        </a:p>
      </dgm:t>
    </dgm:pt>
    <dgm:pt modelId="{D698B146-EAF0-4445-BEE9-6E2582991DBA}" type="pres">
      <dgm:prSet presAssocID="{ABE16FAE-1A73-4CE7-A3C2-07A302F71F9D}" presName="connectorText" presStyleLbl="sibTrans1D1" presStyleIdx="1" presStyleCnt="5"/>
      <dgm:spPr/>
      <dgm:t>
        <a:bodyPr/>
        <a:lstStyle/>
        <a:p>
          <a:endParaRPr lang="en-US"/>
        </a:p>
      </dgm:t>
    </dgm:pt>
    <dgm:pt modelId="{38DD17FD-1692-4534-9F07-BD29FED2B2C1}" type="pres">
      <dgm:prSet presAssocID="{86517791-155F-4C49-8D6C-E6618A6B18DF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EA0FD6-D7EC-4258-A780-FF770CC4E5E0}" type="pres">
      <dgm:prSet presAssocID="{5C96E20F-916B-4D33-AADC-9DF3B203BA45}" presName="sibTrans" presStyleLbl="sibTrans1D1" presStyleIdx="2" presStyleCnt="5"/>
      <dgm:spPr/>
      <dgm:t>
        <a:bodyPr/>
        <a:lstStyle/>
        <a:p>
          <a:endParaRPr lang="en-US"/>
        </a:p>
      </dgm:t>
    </dgm:pt>
    <dgm:pt modelId="{C1B25170-17A2-4ECA-B8E8-CE14C8DBCB3F}" type="pres">
      <dgm:prSet presAssocID="{5C96E20F-916B-4D33-AADC-9DF3B203BA45}" presName="connectorText" presStyleLbl="sibTrans1D1" presStyleIdx="2" presStyleCnt="5"/>
      <dgm:spPr/>
      <dgm:t>
        <a:bodyPr/>
        <a:lstStyle/>
        <a:p>
          <a:endParaRPr lang="en-US"/>
        </a:p>
      </dgm:t>
    </dgm:pt>
    <dgm:pt modelId="{0CE5E71C-8350-44C6-A0AA-5698051CA98B}" type="pres">
      <dgm:prSet presAssocID="{10C153A8-6F9C-42C4-B133-D2B795A6B5AB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17E5B7-7D90-45D3-93EB-0FAF6E2E772D}" type="pres">
      <dgm:prSet presAssocID="{E9BE6C02-7AC2-4219-A8CF-2641062DFD53}" presName="sibTrans" presStyleLbl="sibTrans1D1" presStyleIdx="3" presStyleCnt="5"/>
      <dgm:spPr/>
      <dgm:t>
        <a:bodyPr/>
        <a:lstStyle/>
        <a:p>
          <a:endParaRPr lang="en-US"/>
        </a:p>
      </dgm:t>
    </dgm:pt>
    <dgm:pt modelId="{937E2370-FD7A-44D9-98A1-9F83A46736C3}" type="pres">
      <dgm:prSet presAssocID="{E9BE6C02-7AC2-4219-A8CF-2641062DFD53}" presName="connectorText" presStyleLbl="sibTrans1D1" presStyleIdx="3" presStyleCnt="5"/>
      <dgm:spPr/>
      <dgm:t>
        <a:bodyPr/>
        <a:lstStyle/>
        <a:p>
          <a:endParaRPr lang="en-US"/>
        </a:p>
      </dgm:t>
    </dgm:pt>
    <dgm:pt modelId="{123497B6-0F3F-41BB-BA10-F00BEDAC8058}" type="pres">
      <dgm:prSet presAssocID="{33F17198-47E5-4000-9CBE-4698484358B8}" presName="node" presStyleLbl="node1" presStyleIdx="4" presStyleCnt="6" custScaleX="996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F1A3B2-54CC-4AA0-820A-6F6CC9B1821F}" type="pres">
      <dgm:prSet presAssocID="{2732166A-32B2-46C4-9E3F-0C5EC081F5AD}" presName="sibTrans" presStyleLbl="sibTrans1D1" presStyleIdx="4" presStyleCnt="5"/>
      <dgm:spPr/>
      <dgm:t>
        <a:bodyPr/>
        <a:lstStyle/>
        <a:p>
          <a:endParaRPr lang="en-US"/>
        </a:p>
      </dgm:t>
    </dgm:pt>
    <dgm:pt modelId="{302EFF7B-CDAC-4B62-ABEF-BACA0D5ED3D7}" type="pres">
      <dgm:prSet presAssocID="{2732166A-32B2-46C4-9E3F-0C5EC081F5AD}" presName="connectorText" presStyleLbl="sibTrans1D1" presStyleIdx="4" presStyleCnt="5"/>
      <dgm:spPr/>
      <dgm:t>
        <a:bodyPr/>
        <a:lstStyle/>
        <a:p>
          <a:endParaRPr lang="en-US"/>
        </a:p>
      </dgm:t>
    </dgm:pt>
    <dgm:pt modelId="{60CD3EBE-9EE9-412E-ABE8-D0C201CFA564}" type="pres">
      <dgm:prSet presAssocID="{A754B24B-633C-4C02-A384-AE33DEB766DD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2A8783-E61D-4919-95F1-A220095B2233}" type="presOf" srcId="{2732166A-32B2-46C4-9E3F-0C5EC081F5AD}" destId="{17F1A3B2-54CC-4AA0-820A-6F6CC9B1821F}" srcOrd="0" destOrd="0" presId="urn:microsoft.com/office/officeart/2005/8/layout/bProcess3"/>
    <dgm:cxn modelId="{34840E02-B289-49A0-B7A1-5EDFCB28094C}" type="presOf" srcId="{0021980A-75F5-4C17-8714-0E1447415B43}" destId="{B5EEC3F9-8363-47FB-AC9A-E29DBB464DFF}" srcOrd="1" destOrd="0" presId="urn:microsoft.com/office/officeart/2005/8/layout/bProcess3"/>
    <dgm:cxn modelId="{5FD5AFD8-8C53-4A05-80D7-6062686A17E6}" type="presOf" srcId="{EE9AD45E-E834-47FD-AEC6-D56FCC488FB5}" destId="{A9859C0D-DC58-411A-B55F-D82E6C621A05}" srcOrd="0" destOrd="0" presId="urn:microsoft.com/office/officeart/2005/8/layout/bProcess3"/>
    <dgm:cxn modelId="{7C2C257A-16F2-4BFF-9A2C-4B9264673CBD}" type="presOf" srcId="{7DD3EFEC-996A-486E-AEEA-7881CFEB9408}" destId="{47C2167D-3EBE-4E9F-A791-6B44C6AC026F}" srcOrd="0" destOrd="0" presId="urn:microsoft.com/office/officeart/2005/8/layout/bProcess3"/>
    <dgm:cxn modelId="{A545EEC4-B313-4EA0-AC81-6EE5AEE194BD}" srcId="{7DD3EFEC-996A-486E-AEEA-7881CFEB9408}" destId="{CCD3512F-2BDE-4463-85CB-4EB14E2BFC9A}" srcOrd="0" destOrd="0" parTransId="{77728E52-0EDE-487A-8B30-4D871089A4B8}" sibTransId="{0021980A-75F5-4C17-8714-0E1447415B43}"/>
    <dgm:cxn modelId="{88AD7FBF-3E25-4A33-BEAD-32FFCDB04BE8}" type="presOf" srcId="{CCD3512F-2BDE-4463-85CB-4EB14E2BFC9A}" destId="{02117732-5047-453C-AE6E-F8C24BEBCD51}" srcOrd="0" destOrd="0" presId="urn:microsoft.com/office/officeart/2005/8/layout/bProcess3"/>
    <dgm:cxn modelId="{7A33E04A-A03F-4E31-AC5E-A5B96AAB6982}" type="presOf" srcId="{0021980A-75F5-4C17-8714-0E1447415B43}" destId="{85C04AD7-2DEB-4B0D-BAA2-38EEB955933D}" srcOrd="0" destOrd="0" presId="urn:microsoft.com/office/officeart/2005/8/layout/bProcess3"/>
    <dgm:cxn modelId="{BE09CDBD-0EEC-4E2D-BEB3-6670CE4B208D}" type="presOf" srcId="{33F17198-47E5-4000-9CBE-4698484358B8}" destId="{123497B6-0F3F-41BB-BA10-F00BEDAC8058}" srcOrd="0" destOrd="0" presId="urn:microsoft.com/office/officeart/2005/8/layout/bProcess3"/>
    <dgm:cxn modelId="{EC093A5D-A592-48C2-85F2-F3A95E419703}" type="presOf" srcId="{E9BE6C02-7AC2-4219-A8CF-2641062DFD53}" destId="{937E2370-FD7A-44D9-98A1-9F83A46736C3}" srcOrd="1" destOrd="0" presId="urn:microsoft.com/office/officeart/2005/8/layout/bProcess3"/>
    <dgm:cxn modelId="{36B29984-48E4-4BD4-AAC2-524B87C9DF11}" srcId="{7DD3EFEC-996A-486E-AEEA-7881CFEB9408}" destId="{A754B24B-633C-4C02-A384-AE33DEB766DD}" srcOrd="5" destOrd="0" parTransId="{1A29ECD1-736B-41B3-B7AC-346B5A17C48F}" sibTransId="{4DBFA19E-A59B-4701-9C54-F66536E7D88A}"/>
    <dgm:cxn modelId="{6DEB4863-F1FB-432F-8C42-5B111277A11E}" type="presOf" srcId="{E9BE6C02-7AC2-4219-A8CF-2641062DFD53}" destId="{8B17E5B7-7D90-45D3-93EB-0FAF6E2E772D}" srcOrd="0" destOrd="0" presId="urn:microsoft.com/office/officeart/2005/8/layout/bProcess3"/>
    <dgm:cxn modelId="{9DE3BBBB-9F8D-495E-B024-8F1F6F93F914}" srcId="{7DD3EFEC-996A-486E-AEEA-7881CFEB9408}" destId="{10C153A8-6F9C-42C4-B133-D2B795A6B5AB}" srcOrd="3" destOrd="0" parTransId="{4526DF35-B9AA-4D36-9A71-F50B6B5081D0}" sibTransId="{E9BE6C02-7AC2-4219-A8CF-2641062DFD53}"/>
    <dgm:cxn modelId="{E6191683-94DB-486D-8C3B-08775D6FEAA6}" srcId="{7DD3EFEC-996A-486E-AEEA-7881CFEB9408}" destId="{EE9AD45E-E834-47FD-AEC6-D56FCC488FB5}" srcOrd="1" destOrd="0" parTransId="{690E7C9B-0F8A-4E58-AB37-B0FB689D1249}" sibTransId="{ABE16FAE-1A73-4CE7-A3C2-07A302F71F9D}"/>
    <dgm:cxn modelId="{B754368E-854C-4B04-BBD0-A638BC613F02}" type="presOf" srcId="{10C153A8-6F9C-42C4-B133-D2B795A6B5AB}" destId="{0CE5E71C-8350-44C6-A0AA-5698051CA98B}" srcOrd="0" destOrd="0" presId="urn:microsoft.com/office/officeart/2005/8/layout/bProcess3"/>
    <dgm:cxn modelId="{F6211083-4A11-4631-B0A8-299516466742}" type="presOf" srcId="{2732166A-32B2-46C4-9E3F-0C5EC081F5AD}" destId="{302EFF7B-CDAC-4B62-ABEF-BACA0D5ED3D7}" srcOrd="1" destOrd="0" presId="urn:microsoft.com/office/officeart/2005/8/layout/bProcess3"/>
    <dgm:cxn modelId="{196EA0C3-2773-41B2-821C-7FEDFEB5CE39}" type="presOf" srcId="{A754B24B-633C-4C02-A384-AE33DEB766DD}" destId="{60CD3EBE-9EE9-412E-ABE8-D0C201CFA564}" srcOrd="0" destOrd="0" presId="urn:microsoft.com/office/officeart/2005/8/layout/bProcess3"/>
    <dgm:cxn modelId="{F31C0BA4-2CF6-4F77-8E06-886D4AA85BCD}" type="presOf" srcId="{ABE16FAE-1A73-4CE7-A3C2-07A302F71F9D}" destId="{D698B146-EAF0-4445-BEE9-6E2582991DBA}" srcOrd="1" destOrd="0" presId="urn:microsoft.com/office/officeart/2005/8/layout/bProcess3"/>
    <dgm:cxn modelId="{B8D87005-F78E-4EC7-8704-90DCE9E2E32C}" srcId="{7DD3EFEC-996A-486E-AEEA-7881CFEB9408}" destId="{33F17198-47E5-4000-9CBE-4698484358B8}" srcOrd="4" destOrd="0" parTransId="{DA0CC74F-4C5A-44CD-8A07-FF0B8E7A6DE5}" sibTransId="{2732166A-32B2-46C4-9E3F-0C5EC081F5AD}"/>
    <dgm:cxn modelId="{040D1436-5649-4417-83FB-29B4BCED37CA}" type="presOf" srcId="{86517791-155F-4C49-8D6C-E6618A6B18DF}" destId="{38DD17FD-1692-4534-9F07-BD29FED2B2C1}" srcOrd="0" destOrd="0" presId="urn:microsoft.com/office/officeart/2005/8/layout/bProcess3"/>
    <dgm:cxn modelId="{66C0A545-33BF-4512-A82D-5B2185F264D1}" srcId="{7DD3EFEC-996A-486E-AEEA-7881CFEB9408}" destId="{86517791-155F-4C49-8D6C-E6618A6B18DF}" srcOrd="2" destOrd="0" parTransId="{98C9E3B5-F52C-41DD-A86A-965CB7602542}" sibTransId="{5C96E20F-916B-4D33-AADC-9DF3B203BA45}"/>
    <dgm:cxn modelId="{878F79E4-75C5-4FA9-B4E7-FDFA75BE778D}" type="presOf" srcId="{ABE16FAE-1A73-4CE7-A3C2-07A302F71F9D}" destId="{1AC3FC4E-31B1-45BA-898F-F0A7EF9ED734}" srcOrd="0" destOrd="0" presId="urn:microsoft.com/office/officeart/2005/8/layout/bProcess3"/>
    <dgm:cxn modelId="{2DD2CE0F-CB46-45DB-9BBF-D8FFB467C079}" type="presOf" srcId="{5C96E20F-916B-4D33-AADC-9DF3B203BA45}" destId="{D8EA0FD6-D7EC-4258-A780-FF770CC4E5E0}" srcOrd="0" destOrd="0" presId="urn:microsoft.com/office/officeart/2005/8/layout/bProcess3"/>
    <dgm:cxn modelId="{9C4C6442-AA01-4966-9FCA-8182F3CDFD35}" type="presOf" srcId="{5C96E20F-916B-4D33-AADC-9DF3B203BA45}" destId="{C1B25170-17A2-4ECA-B8E8-CE14C8DBCB3F}" srcOrd="1" destOrd="0" presId="urn:microsoft.com/office/officeart/2005/8/layout/bProcess3"/>
    <dgm:cxn modelId="{ED67672E-1367-4E72-A7DE-3E9D0FE94E2D}" type="presParOf" srcId="{47C2167D-3EBE-4E9F-A791-6B44C6AC026F}" destId="{02117732-5047-453C-AE6E-F8C24BEBCD51}" srcOrd="0" destOrd="0" presId="urn:microsoft.com/office/officeart/2005/8/layout/bProcess3"/>
    <dgm:cxn modelId="{1E2A80FB-B9C5-4CB2-8117-B05A0CB70269}" type="presParOf" srcId="{47C2167D-3EBE-4E9F-A791-6B44C6AC026F}" destId="{85C04AD7-2DEB-4B0D-BAA2-38EEB955933D}" srcOrd="1" destOrd="0" presId="urn:microsoft.com/office/officeart/2005/8/layout/bProcess3"/>
    <dgm:cxn modelId="{2340965A-DA00-4C28-98BE-467E4D04EB78}" type="presParOf" srcId="{85C04AD7-2DEB-4B0D-BAA2-38EEB955933D}" destId="{B5EEC3F9-8363-47FB-AC9A-E29DBB464DFF}" srcOrd="0" destOrd="0" presId="urn:microsoft.com/office/officeart/2005/8/layout/bProcess3"/>
    <dgm:cxn modelId="{597906C1-52DC-4F07-B92A-4E46EA54D2D9}" type="presParOf" srcId="{47C2167D-3EBE-4E9F-A791-6B44C6AC026F}" destId="{A9859C0D-DC58-411A-B55F-D82E6C621A05}" srcOrd="2" destOrd="0" presId="urn:microsoft.com/office/officeart/2005/8/layout/bProcess3"/>
    <dgm:cxn modelId="{CEF21B17-CCEA-4645-87A7-E71050FA360B}" type="presParOf" srcId="{47C2167D-3EBE-4E9F-A791-6B44C6AC026F}" destId="{1AC3FC4E-31B1-45BA-898F-F0A7EF9ED734}" srcOrd="3" destOrd="0" presId="urn:microsoft.com/office/officeart/2005/8/layout/bProcess3"/>
    <dgm:cxn modelId="{6CCCDDC0-B71A-49E6-9777-73F5364F5F50}" type="presParOf" srcId="{1AC3FC4E-31B1-45BA-898F-F0A7EF9ED734}" destId="{D698B146-EAF0-4445-BEE9-6E2582991DBA}" srcOrd="0" destOrd="0" presId="urn:microsoft.com/office/officeart/2005/8/layout/bProcess3"/>
    <dgm:cxn modelId="{79D112DD-AB30-4DC8-93FB-5C1A3289FFA9}" type="presParOf" srcId="{47C2167D-3EBE-4E9F-A791-6B44C6AC026F}" destId="{38DD17FD-1692-4534-9F07-BD29FED2B2C1}" srcOrd="4" destOrd="0" presId="urn:microsoft.com/office/officeart/2005/8/layout/bProcess3"/>
    <dgm:cxn modelId="{A0D831CF-A79E-4411-BB8F-77808149886B}" type="presParOf" srcId="{47C2167D-3EBE-4E9F-A791-6B44C6AC026F}" destId="{D8EA0FD6-D7EC-4258-A780-FF770CC4E5E0}" srcOrd="5" destOrd="0" presId="urn:microsoft.com/office/officeart/2005/8/layout/bProcess3"/>
    <dgm:cxn modelId="{D851B7D6-AD23-4C60-80A8-C9CEA874687A}" type="presParOf" srcId="{D8EA0FD6-D7EC-4258-A780-FF770CC4E5E0}" destId="{C1B25170-17A2-4ECA-B8E8-CE14C8DBCB3F}" srcOrd="0" destOrd="0" presId="urn:microsoft.com/office/officeart/2005/8/layout/bProcess3"/>
    <dgm:cxn modelId="{091BC531-72A3-43C0-A866-291BF52CA5DF}" type="presParOf" srcId="{47C2167D-3EBE-4E9F-A791-6B44C6AC026F}" destId="{0CE5E71C-8350-44C6-A0AA-5698051CA98B}" srcOrd="6" destOrd="0" presId="urn:microsoft.com/office/officeart/2005/8/layout/bProcess3"/>
    <dgm:cxn modelId="{C687AB69-C768-43A5-BF2B-F7201A4A44FA}" type="presParOf" srcId="{47C2167D-3EBE-4E9F-A791-6B44C6AC026F}" destId="{8B17E5B7-7D90-45D3-93EB-0FAF6E2E772D}" srcOrd="7" destOrd="0" presId="urn:microsoft.com/office/officeart/2005/8/layout/bProcess3"/>
    <dgm:cxn modelId="{CB6E91CD-48D4-4604-B35C-5A364130F3EB}" type="presParOf" srcId="{8B17E5B7-7D90-45D3-93EB-0FAF6E2E772D}" destId="{937E2370-FD7A-44D9-98A1-9F83A46736C3}" srcOrd="0" destOrd="0" presId="urn:microsoft.com/office/officeart/2005/8/layout/bProcess3"/>
    <dgm:cxn modelId="{763A574D-C409-4A05-A082-C369C78B0DAA}" type="presParOf" srcId="{47C2167D-3EBE-4E9F-A791-6B44C6AC026F}" destId="{123497B6-0F3F-41BB-BA10-F00BEDAC8058}" srcOrd="8" destOrd="0" presId="urn:microsoft.com/office/officeart/2005/8/layout/bProcess3"/>
    <dgm:cxn modelId="{500C2AB9-2038-4ED8-84BA-8EA9862052A3}" type="presParOf" srcId="{47C2167D-3EBE-4E9F-A791-6B44C6AC026F}" destId="{17F1A3B2-54CC-4AA0-820A-6F6CC9B1821F}" srcOrd="9" destOrd="0" presId="urn:microsoft.com/office/officeart/2005/8/layout/bProcess3"/>
    <dgm:cxn modelId="{7503A18C-4459-4F17-A706-521F74FE5760}" type="presParOf" srcId="{17F1A3B2-54CC-4AA0-820A-6F6CC9B1821F}" destId="{302EFF7B-CDAC-4B62-ABEF-BACA0D5ED3D7}" srcOrd="0" destOrd="0" presId="urn:microsoft.com/office/officeart/2005/8/layout/bProcess3"/>
    <dgm:cxn modelId="{A21B15A8-E47F-4DFD-92B2-D16079B01332}" type="presParOf" srcId="{47C2167D-3EBE-4E9F-A791-6B44C6AC026F}" destId="{60CD3EBE-9EE9-412E-ABE8-D0C201CFA564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04AD7-2DEB-4B0D-BAA2-38EEB955933D}">
      <dsp:nvSpPr>
        <dsp:cNvPr id="0" name=""/>
        <dsp:cNvSpPr/>
      </dsp:nvSpPr>
      <dsp:spPr>
        <a:xfrm>
          <a:off x="1570252" y="385284"/>
          <a:ext cx="2995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950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711754" y="429354"/>
        <a:ext cx="16505" cy="3301"/>
      </dsp:txXfrm>
    </dsp:sp>
    <dsp:sp modelId="{02117732-5047-453C-AE6E-F8C24BEBCD51}">
      <dsp:nvSpPr>
        <dsp:cNvPr id="0" name=""/>
        <dsp:cNvSpPr/>
      </dsp:nvSpPr>
      <dsp:spPr>
        <a:xfrm>
          <a:off x="136796" y="428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DOM + A11Y+Vision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136796" y="428"/>
        <a:ext cx="1435255" cy="861153"/>
      </dsp:txXfrm>
    </dsp:sp>
    <dsp:sp modelId="{1AC3FC4E-31B1-45BA-898F-F0A7EF9ED734}">
      <dsp:nvSpPr>
        <dsp:cNvPr id="0" name=""/>
        <dsp:cNvSpPr/>
      </dsp:nvSpPr>
      <dsp:spPr>
        <a:xfrm>
          <a:off x="3335616" y="385284"/>
          <a:ext cx="2995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950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477118" y="429354"/>
        <a:ext cx="16505" cy="3301"/>
      </dsp:txXfrm>
    </dsp:sp>
    <dsp:sp modelId="{A9859C0D-DC58-411A-B55F-D82E6C621A05}">
      <dsp:nvSpPr>
        <dsp:cNvPr id="0" name=""/>
        <dsp:cNvSpPr/>
      </dsp:nvSpPr>
      <dsp:spPr>
        <a:xfrm>
          <a:off x="1902161" y="428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Unified Scene understanding 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1902161" y="428"/>
        <a:ext cx="1435255" cy="861153"/>
      </dsp:txXfrm>
    </dsp:sp>
    <dsp:sp modelId="{D8EA0FD6-D7EC-4258-A780-FF770CC4E5E0}">
      <dsp:nvSpPr>
        <dsp:cNvPr id="0" name=""/>
        <dsp:cNvSpPr/>
      </dsp:nvSpPr>
      <dsp:spPr>
        <a:xfrm>
          <a:off x="854424" y="859781"/>
          <a:ext cx="3530728" cy="299508"/>
        </a:xfrm>
        <a:custGeom>
          <a:avLst/>
          <a:gdLst/>
          <a:ahLst/>
          <a:cxnLst/>
          <a:rect l="0" t="0" r="0" b="0"/>
          <a:pathLst>
            <a:path>
              <a:moveTo>
                <a:pt x="3530728" y="0"/>
              </a:moveTo>
              <a:lnTo>
                <a:pt x="3530728" y="166854"/>
              </a:lnTo>
              <a:lnTo>
                <a:pt x="0" y="166854"/>
              </a:lnTo>
              <a:lnTo>
                <a:pt x="0" y="29950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31135" y="1007885"/>
        <a:ext cx="177306" cy="3301"/>
      </dsp:txXfrm>
    </dsp:sp>
    <dsp:sp modelId="{38DD17FD-1692-4534-9F07-BD29FED2B2C1}">
      <dsp:nvSpPr>
        <dsp:cNvPr id="0" name=""/>
        <dsp:cNvSpPr/>
      </dsp:nvSpPr>
      <dsp:spPr>
        <a:xfrm>
          <a:off x="3667525" y="428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Local PII Detection + Tokenization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3667525" y="428"/>
        <a:ext cx="1435255" cy="861153"/>
      </dsp:txXfrm>
    </dsp:sp>
    <dsp:sp modelId="{8B17E5B7-7D90-45D3-93EB-0FAF6E2E772D}">
      <dsp:nvSpPr>
        <dsp:cNvPr id="0" name=""/>
        <dsp:cNvSpPr/>
      </dsp:nvSpPr>
      <dsp:spPr>
        <a:xfrm>
          <a:off x="1570252" y="1576547"/>
          <a:ext cx="2995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950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1711754" y="1620616"/>
        <a:ext cx="16505" cy="3301"/>
      </dsp:txXfrm>
    </dsp:sp>
    <dsp:sp modelId="{0CE5E71C-8350-44C6-A0AA-5698051CA98B}">
      <dsp:nvSpPr>
        <dsp:cNvPr id="0" name=""/>
        <dsp:cNvSpPr/>
      </dsp:nvSpPr>
      <dsp:spPr>
        <a:xfrm>
          <a:off x="136796" y="1191690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Verified Egress Gate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136796" y="1191690"/>
        <a:ext cx="1435255" cy="861153"/>
      </dsp:txXfrm>
    </dsp:sp>
    <dsp:sp modelId="{17F1A3B2-54CC-4AA0-820A-6F6CC9B1821F}">
      <dsp:nvSpPr>
        <dsp:cNvPr id="0" name=""/>
        <dsp:cNvSpPr/>
      </dsp:nvSpPr>
      <dsp:spPr>
        <a:xfrm>
          <a:off x="3331023" y="1576547"/>
          <a:ext cx="2995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950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472525" y="1620616"/>
        <a:ext cx="16505" cy="3301"/>
      </dsp:txXfrm>
    </dsp:sp>
    <dsp:sp modelId="{123497B6-0F3F-41BB-BA10-F00BEDAC8058}">
      <dsp:nvSpPr>
        <dsp:cNvPr id="0" name=""/>
        <dsp:cNvSpPr/>
      </dsp:nvSpPr>
      <dsp:spPr>
        <a:xfrm>
          <a:off x="1902161" y="1191690"/>
          <a:ext cx="1430662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Sanitized Context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1902161" y="1191690"/>
        <a:ext cx="1430662" cy="861153"/>
      </dsp:txXfrm>
    </dsp:sp>
    <dsp:sp modelId="{60CD3EBE-9EE9-412E-ABE8-D0C201CFA564}">
      <dsp:nvSpPr>
        <dsp:cNvPr id="0" name=""/>
        <dsp:cNvSpPr/>
      </dsp:nvSpPr>
      <dsp:spPr>
        <a:xfrm>
          <a:off x="3662932" y="1191690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3662932" y="1191690"/>
        <a:ext cx="1435255" cy="861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microsoft.com/office/2007/relationships/hdphoto" Target="../media/hdphoto1.wdp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ebpii.github.io/?utm_source=chatgpt.com" TargetMode="External"/><Relationship Id="rId13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hyperlink" Target="https://arxiv.org/abs/2603.17357?utm_source=chatgpt.com" TargetMode="External"/><Relationship Id="rId12" Type="http://schemas.openxmlformats.org/officeDocument/2006/relationships/diagramQuickStyle" Target="../diagrams/quickStyle1.xm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arxiv.org/abs/2604.20940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606.12666?utm_source=chatgpt.com" TargetMode="External"/><Relationship Id="rId11" Type="http://schemas.openxmlformats.org/officeDocument/2006/relationships/diagramLayout" Target="../diagrams/layout1.xml"/><Relationship Id="rId5" Type="http://schemas.openxmlformats.org/officeDocument/2006/relationships/hyperlink" Target="https://doi.org/10.1145/3772318.3790919?utm_source=chatgpt.com" TargetMode="External"/><Relationship Id="rId15" Type="http://schemas.openxmlformats.org/officeDocument/2006/relationships/image" Target="../media/image3.png"/><Relationship Id="rId10" Type="http://schemas.openxmlformats.org/officeDocument/2006/relationships/diagramData" Target="../diagrams/data1.xml"/><Relationship Id="rId4" Type="http://schemas.openxmlformats.org/officeDocument/2006/relationships/hyperlink" Target="https://arxiv.org/abs/2601.18842?utm_source=chatgpt.com" TargetMode="External"/><Relationship Id="rId9" Type="http://schemas.openxmlformats.org/officeDocument/2006/relationships/hyperlink" Target="https://www.alphaxiv.org/abs/2604.20940?utm_source=chatgpt.com" TargetMode="External"/><Relationship Id="rId14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6157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33714" y="762008"/>
            <a:ext cx="254000" cy="89513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INDIA 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659010"/>
            <a:ext cx="726331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SIH2026171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 Statement Title - On-Device Visual Perception for Light-weight Browser Agent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 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 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 – The Honoured Ones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37051" y="-216884"/>
            <a:ext cx="11846938" cy="93633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ANTARDRISHTI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960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H="1">
            <a:off x="4707856" y="6502400"/>
            <a:ext cx="702343" cy="3937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14" y="1500"/>
            <a:ext cx="1979822" cy="93483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-1587" y="969855"/>
            <a:ext cx="12191998" cy="50292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1587" y="963374"/>
            <a:ext cx="10717936" cy="448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62"/>
              </a:lnSpc>
            </a:pPr>
            <a:r>
              <a:rPr lang="en-US" sz="2000" b="1" dirty="0">
                <a:solidFill>
                  <a:srgbClr val="002352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 :  AI AGENTS NEED TO SEE—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Roboto Bold"/>
                <a:ea typeface="Roboto Bold"/>
                <a:cs typeface="Roboto Bold"/>
                <a:sym typeface="Roboto Bold"/>
              </a:rPr>
              <a:t>BUT SHOULD NOT SEE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527" y="1289288"/>
            <a:ext cx="11442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AI browser agents can visually understand </a:t>
            </a:r>
            <a:r>
              <a:rPr lang="en-US" sz="1600" dirty="0" smtClean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and operate our </a:t>
            </a:r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websites. But raw screen content can contain sensitive information, </a:t>
            </a:r>
            <a:r>
              <a:rPr lang="en-US" sz="1600" dirty="0" smtClean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while DOM-only  </a:t>
            </a:r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approaches cannot capture everything users actually see.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6501" y="1857544"/>
            <a:ext cx="3309648" cy="9625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288440" y="2089007"/>
            <a:ext cx="534545" cy="504872"/>
            <a:chOff x="345275" y="2168470"/>
            <a:chExt cx="534545" cy="504872"/>
          </a:xfrm>
        </p:grpSpPr>
        <p:sp>
          <p:nvSpPr>
            <p:cNvPr id="93" name="Freeform 11"/>
            <p:cNvSpPr/>
            <p:nvPr/>
          </p:nvSpPr>
          <p:spPr>
            <a:xfrm>
              <a:off x="345275" y="2168470"/>
              <a:ext cx="534545" cy="504872"/>
            </a:xfrm>
            <a:custGeom>
              <a:avLst/>
              <a:gdLst/>
              <a:ahLst/>
              <a:cxnLst/>
              <a:rect l="l" t="t" r="r" b="b"/>
              <a:pathLst>
                <a:path w="885962" h="874559">
                  <a:moveTo>
                    <a:pt x="0" y="0"/>
                  </a:moveTo>
                  <a:lnTo>
                    <a:pt x="885962" y="0"/>
                  </a:lnTo>
                  <a:lnTo>
                    <a:pt x="885962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4" name="TextBox 12"/>
            <p:cNvSpPr txBox="1"/>
            <p:nvPr/>
          </p:nvSpPr>
          <p:spPr>
            <a:xfrm>
              <a:off x="397421" y="2225624"/>
              <a:ext cx="403833" cy="359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P01</a:t>
              </a:r>
              <a:endParaRPr lang="en-US" sz="1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867095" y="1741502"/>
            <a:ext cx="2268826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>
                <a:solidFill>
                  <a:srgbClr val="E40000"/>
                </a:solidFill>
                <a:latin typeface="Roboto Bold"/>
                <a:ea typeface="Roboto Bold"/>
                <a:cs typeface="Roboto Bold"/>
                <a:sym typeface="Roboto Bold"/>
              </a:rPr>
              <a:t>PRIVACY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100" y="2088496"/>
            <a:ext cx="2858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Screens can contain sensitive information such as credentials, financial data, private </a:t>
            </a:r>
            <a:r>
              <a:rPr lang="en-US" sz="1400" dirty="0" smtClean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documents.</a:t>
            </a:r>
            <a:endParaRPr lang="en-US" sz="1400" dirty="0">
              <a:solidFill>
                <a:srgbClr val="00235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en-US" sz="1400" dirty="0"/>
          </a:p>
        </p:txBody>
      </p:sp>
      <p:sp>
        <p:nvSpPr>
          <p:cNvPr id="95" name="Rounded Rectangle 94"/>
          <p:cNvSpPr/>
          <p:nvPr/>
        </p:nvSpPr>
        <p:spPr>
          <a:xfrm>
            <a:off x="3771384" y="1851703"/>
            <a:ext cx="3333265" cy="949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782952" y="2068868"/>
            <a:ext cx="731898" cy="559476"/>
            <a:chOff x="3805908" y="2268771"/>
            <a:chExt cx="628977" cy="532163"/>
          </a:xfrm>
        </p:grpSpPr>
        <p:sp>
          <p:nvSpPr>
            <p:cNvPr id="96" name="Freeform 16"/>
            <p:cNvSpPr/>
            <p:nvPr/>
          </p:nvSpPr>
          <p:spPr>
            <a:xfrm>
              <a:off x="3812106" y="2268771"/>
              <a:ext cx="532617" cy="532163"/>
            </a:xfrm>
            <a:custGeom>
              <a:avLst/>
              <a:gdLst/>
              <a:ahLst/>
              <a:cxnLst/>
              <a:rect l="l" t="t" r="r" b="b"/>
              <a:pathLst>
                <a:path w="885962" h="874559">
                  <a:moveTo>
                    <a:pt x="0" y="0"/>
                  </a:moveTo>
                  <a:lnTo>
                    <a:pt x="885962" y="0"/>
                  </a:lnTo>
                  <a:lnTo>
                    <a:pt x="885962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1" name="Rectangle 20"/>
            <p:cNvSpPr/>
            <p:nvPr/>
          </p:nvSpPr>
          <p:spPr>
            <a:xfrm>
              <a:off x="3805908" y="2297929"/>
              <a:ext cx="628977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P02</a:t>
              </a:r>
              <a:endParaRPr lang="en-US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4392170" y="1761367"/>
            <a:ext cx="2365840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VISUAL BLIND SPOTS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60797" y="2092963"/>
            <a:ext cx="29375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DOM-only agents can miss canvas, images, PDFs, visual overlays, and rendered content.</a:t>
            </a:r>
          </a:p>
          <a:p>
            <a:endParaRPr lang="en-US" sz="1400" dirty="0"/>
          </a:p>
        </p:txBody>
      </p:sp>
      <p:sp>
        <p:nvSpPr>
          <p:cNvPr id="99" name="Rounded Rectangle 98"/>
          <p:cNvSpPr/>
          <p:nvPr/>
        </p:nvSpPr>
        <p:spPr>
          <a:xfrm>
            <a:off x="7377359" y="1857544"/>
            <a:ext cx="4652577" cy="9433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/>
          <p:cNvGrpSpPr/>
          <p:nvPr/>
        </p:nvGrpSpPr>
        <p:grpSpPr>
          <a:xfrm>
            <a:off x="7397462" y="2076818"/>
            <a:ext cx="606417" cy="529250"/>
            <a:chOff x="7397462" y="2271685"/>
            <a:chExt cx="606417" cy="529250"/>
          </a:xfrm>
        </p:grpSpPr>
        <p:sp>
          <p:nvSpPr>
            <p:cNvPr id="100" name="Freeform 21"/>
            <p:cNvSpPr/>
            <p:nvPr/>
          </p:nvSpPr>
          <p:spPr>
            <a:xfrm>
              <a:off x="7397462" y="2271685"/>
              <a:ext cx="565367" cy="529250"/>
            </a:xfrm>
            <a:custGeom>
              <a:avLst/>
              <a:gdLst/>
              <a:ahLst/>
              <a:cxnLst/>
              <a:rect l="l" t="t" r="r" b="b"/>
              <a:pathLst>
                <a:path w="875024" h="874559">
                  <a:moveTo>
                    <a:pt x="0" y="0"/>
                  </a:moveTo>
                  <a:lnTo>
                    <a:pt x="875024" y="0"/>
                  </a:lnTo>
                  <a:lnTo>
                    <a:pt x="875024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8" name="Rectangle 97"/>
            <p:cNvSpPr/>
            <p:nvPr/>
          </p:nvSpPr>
          <p:spPr>
            <a:xfrm>
              <a:off x="7408843" y="2296618"/>
              <a:ext cx="595036" cy="4142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P03</a:t>
              </a:r>
              <a:endParaRPr lang="en-US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101" name="Rectangle 100"/>
          <p:cNvSpPr/>
          <p:nvPr/>
        </p:nvSpPr>
        <p:spPr>
          <a:xfrm>
            <a:off x="8249943" y="1740996"/>
            <a:ext cx="2912464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 smtClean="0">
                <a:solidFill>
                  <a:srgbClr val="008037"/>
                </a:solidFill>
                <a:latin typeface="Roboto Bold"/>
                <a:ea typeface="Roboto Bold"/>
                <a:cs typeface="Roboto Bold"/>
                <a:sym typeface="Roboto Bold"/>
              </a:rPr>
              <a:t>THE LOCALITY TRADE-OFF</a:t>
            </a:r>
            <a:endParaRPr lang="en-US" sz="1600" b="1" dirty="0">
              <a:solidFill>
                <a:srgbClr val="008037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04" name="Freeform 25"/>
          <p:cNvSpPr/>
          <p:nvPr/>
        </p:nvSpPr>
        <p:spPr>
          <a:xfrm>
            <a:off x="38248" y="2922590"/>
            <a:ext cx="12063488" cy="1162840"/>
          </a:xfrm>
          <a:custGeom>
            <a:avLst/>
            <a:gdLst/>
            <a:ahLst/>
            <a:cxnLst/>
            <a:rect l="l" t="t" r="r" b="b"/>
            <a:pathLst>
              <a:path w="17653608" h="1727254">
                <a:moveTo>
                  <a:pt x="0" y="0"/>
                </a:moveTo>
                <a:lnTo>
                  <a:pt x="17653608" y="0"/>
                </a:lnTo>
                <a:lnTo>
                  <a:pt x="1765360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6" name="TextBox 105"/>
          <p:cNvSpPr txBox="1"/>
          <p:nvPr/>
        </p:nvSpPr>
        <p:spPr>
          <a:xfrm>
            <a:off x="7955890" y="2062500"/>
            <a:ext cx="4199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Full visual reasoning on constrained devices can be computationally expensive, while sending raw visual content to remote AI creates privacy risk.</a:t>
            </a:r>
          </a:p>
          <a:p>
            <a:endParaRPr lang="en-US" sz="1400" dirty="0"/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09" b="95122" l="7750" r="94063">
                        <a14:foregroundMark x1="48063" y1="64329" x2="48063" y2="64329"/>
                        <a14:foregroundMark x1="13063" y1="76220" x2="13063" y2="76220"/>
                        <a14:foregroundMark x1="18813" y1="80030" x2="18813" y2="80030"/>
                        <a14:foregroundMark x1="28625" y1="77896" x2="28625" y2="77896"/>
                        <a14:foregroundMark x1="34188" y1="82012" x2="34188" y2="82012"/>
                        <a14:foregroundMark x1="41438" y1="79573" x2="41438" y2="79573"/>
                        <a14:foregroundMark x1="49688" y1="82317" x2="49688" y2="82317"/>
                        <a14:foregroundMark x1="58375" y1="82012" x2="58375" y2="82012"/>
                        <a14:foregroundMark x1="65625" y1="83079" x2="65625" y2="83079"/>
                        <a14:foregroundMark x1="69563" y1="80030" x2="69563" y2="80030"/>
                        <a14:foregroundMark x1="76125" y1="80335" x2="76125" y2="80335"/>
                        <a14:foregroundMark x1="86063" y1="79268" x2="86063" y2="79268"/>
                        <a14:foregroundMark x1="91813" y1="79268" x2="91813" y2="792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20" y="2812723"/>
            <a:ext cx="2763597" cy="1133075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3624824" y="2983830"/>
            <a:ext cx="8565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browser-native privacy firewall that combines screen + DOM + ARIA perception,</a:t>
            </a:r>
          </a:p>
          <a:p>
            <a:r>
              <a:rPr lang="en-US" dirty="0" smtClean="0"/>
              <a:t>Detects sensitive content locally, precisely redact/tokenizes it, and exposes only sanitized context to remote AI reasoning, while having  guardrails and egress gate protection </a:t>
            </a:r>
            <a:endParaRPr lang="en-US" dirty="0"/>
          </a:p>
        </p:txBody>
      </p:sp>
      <p:sp>
        <p:nvSpPr>
          <p:cNvPr id="125" name="Freeform 30"/>
          <p:cNvSpPr/>
          <p:nvPr/>
        </p:nvSpPr>
        <p:spPr>
          <a:xfrm>
            <a:off x="0" y="4080607"/>
            <a:ext cx="5156200" cy="2790985"/>
          </a:xfrm>
          <a:custGeom>
            <a:avLst/>
            <a:gdLst/>
            <a:ahLst/>
            <a:cxnLst/>
            <a:rect l="l" t="t" r="r" b="b"/>
            <a:pathLst>
              <a:path w="5895474" h="3651284">
                <a:moveTo>
                  <a:pt x="0" y="0"/>
                </a:moveTo>
                <a:lnTo>
                  <a:pt x="5895474" y="0"/>
                </a:lnTo>
                <a:lnTo>
                  <a:pt x="589547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09" name="Rectangle 108"/>
          <p:cNvSpPr/>
          <p:nvPr/>
        </p:nvSpPr>
        <p:spPr>
          <a:xfrm>
            <a:off x="292818" y="4104190"/>
            <a:ext cx="3101843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19"/>
              </a:lnSpc>
            </a:pPr>
            <a:r>
              <a:rPr lang="en-US" b="1" dirty="0">
                <a:solidFill>
                  <a:srgbClr val="002352"/>
                </a:solidFill>
                <a:latin typeface="Roboto Bold"/>
                <a:ea typeface="Roboto Bold"/>
                <a:cs typeface="Roboto Bold"/>
                <a:sym typeface="Roboto Bold"/>
              </a:rPr>
              <a:t>KEY INNOVATION</a:t>
            </a:r>
          </a:p>
        </p:txBody>
      </p:sp>
      <p:sp>
        <p:nvSpPr>
          <p:cNvPr id="127" name="Text 6"/>
          <p:cNvSpPr txBox="1"/>
          <p:nvPr/>
        </p:nvSpPr>
        <p:spPr>
          <a:xfrm>
            <a:off x="272754" y="4576605"/>
            <a:ext cx="3314152" cy="555445"/>
          </a:xfrm>
          <a:prstGeom prst="roundRect">
            <a:avLst>
              <a:gd name="adj" fmla="val 7500"/>
            </a:avLst>
          </a:prstGeom>
          <a:solidFill>
            <a:srgbClr val="7A1F1F"/>
          </a:solidFill>
          <a:ln w="19050">
            <a:solidFill>
              <a:srgbClr val="F29B9B"/>
            </a:solidFill>
          </a:ln>
        </p:spPr>
        <p:txBody>
          <a:bodyPr wrap="square" lIns="101600" tIns="127000" rIns="127000" bIns="101600" rtlCol="0" anchor="t"/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FA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1400" b="1" dirty="0">
                <a:solidFill>
                  <a:srgbClr val="FA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 </a:t>
            </a:r>
            <a:r>
              <a:rPr lang="en-US" sz="1400" b="1" dirty="0" smtClean="0">
                <a:solidFill>
                  <a:srgbClr val="FA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(P01)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→ </a:t>
            </a:r>
            <a:r>
              <a:rPr lang="en-US" sz="1200" dirty="0" smtClean="0">
                <a:solidFill>
                  <a:srgbClr val="F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 / tokenize </a:t>
            </a:r>
            <a:r>
              <a:rPr lang="en-US" sz="1200" dirty="0">
                <a:solidFill>
                  <a:srgbClr val="F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preserve intent</a:t>
            </a:r>
            <a:endParaRPr lang="en-US" sz="1400" dirty="0"/>
          </a:p>
        </p:txBody>
      </p:sp>
      <p:sp>
        <p:nvSpPr>
          <p:cNvPr id="128" name="Text 7"/>
          <p:cNvSpPr txBox="1"/>
          <p:nvPr/>
        </p:nvSpPr>
        <p:spPr>
          <a:xfrm>
            <a:off x="285527" y="5190576"/>
            <a:ext cx="3339297" cy="608342"/>
          </a:xfrm>
          <a:prstGeom prst="roundRect">
            <a:avLst>
              <a:gd name="adj" fmla="val 7500"/>
            </a:avLst>
          </a:prstGeom>
          <a:solidFill>
            <a:srgbClr val="0C4479"/>
          </a:solidFill>
          <a:ln w="19050">
            <a:solidFill>
              <a:srgbClr val="7FB2EA"/>
            </a:solidFill>
          </a:ln>
        </p:spPr>
        <p:txBody>
          <a:bodyPr wrap="square" lIns="101600" tIns="127000" rIns="127000" bIns="101600" rtlCol="0" anchor="t"/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C6D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400" b="1" dirty="0">
                <a:solidFill>
                  <a:srgbClr val="C6D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</a:t>
            </a:r>
            <a:r>
              <a:rPr lang="en-US" sz="1400" b="1" dirty="0" smtClean="0">
                <a:solidFill>
                  <a:srgbClr val="C6D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(P02)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9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+ DOM + ARIA → unified </a:t>
            </a:r>
            <a:r>
              <a:rPr lang="en-US" sz="1200" dirty="0" smtClean="0">
                <a:solidFill>
                  <a:srgbClr val="A9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scene</a:t>
            </a:r>
            <a:endParaRPr lang="en-US" sz="1400" dirty="0"/>
          </a:p>
        </p:txBody>
      </p:sp>
      <p:sp>
        <p:nvSpPr>
          <p:cNvPr id="129" name="Text 8"/>
          <p:cNvSpPr txBox="1"/>
          <p:nvPr/>
        </p:nvSpPr>
        <p:spPr>
          <a:xfrm>
            <a:off x="257987" y="5855145"/>
            <a:ext cx="2509688" cy="758981"/>
          </a:xfrm>
          <a:prstGeom prst="roundRect">
            <a:avLst>
              <a:gd name="adj" fmla="val 16000"/>
            </a:avLst>
          </a:prstGeom>
          <a:solidFill>
            <a:srgbClr val="07523F"/>
          </a:solidFill>
          <a:ln w="19050">
            <a:solidFill>
              <a:srgbClr val="5FCFA0"/>
            </a:solidFill>
          </a:ln>
        </p:spPr>
        <p:txBody>
          <a:bodyPr wrap="square" lIns="101600" tIns="127000" rIns="127000" bIns="1016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F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Verified </a:t>
            </a:r>
            <a:r>
              <a:rPr lang="en-US" sz="1300" b="1" dirty="0" smtClean="0">
                <a:solidFill>
                  <a:srgbClr val="B4F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boundary</a:t>
            </a:r>
            <a:endParaRPr lang="en-US" sz="1300" dirty="0"/>
          </a:p>
          <a:p>
            <a:r>
              <a:rPr lang="en-US" sz="1200" dirty="0" smtClean="0">
                <a:solidFill>
                  <a:srgbClr val="9B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r>
              <a:rPr lang="en-US" sz="1200" dirty="0">
                <a:solidFill>
                  <a:srgbClr val="A9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A9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9B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9B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</a:t>
            </a:r>
            <a:endParaRPr lang="en-US" sz="1200" dirty="0"/>
          </a:p>
        </p:txBody>
      </p:sp>
      <p:sp>
        <p:nvSpPr>
          <p:cNvPr id="130" name="Text 9"/>
          <p:cNvSpPr txBox="1"/>
          <p:nvPr/>
        </p:nvSpPr>
        <p:spPr>
          <a:xfrm>
            <a:off x="2879608" y="5883258"/>
            <a:ext cx="2047992" cy="730868"/>
          </a:xfrm>
          <a:prstGeom prst="roundRect">
            <a:avLst>
              <a:gd name="adj" fmla="val 16000"/>
            </a:avLst>
          </a:prstGeom>
          <a:solidFill>
            <a:srgbClr val="07523F"/>
          </a:solidFill>
          <a:ln w="19050">
            <a:solidFill>
              <a:srgbClr val="5FCFA0"/>
            </a:solidFill>
          </a:ln>
        </p:spPr>
        <p:txBody>
          <a:bodyPr wrap="square" lIns="101600" tIns="127000" rIns="127000" bIns="1016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F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1300" b="1" dirty="0" smtClean="0">
                <a:solidFill>
                  <a:srgbClr val="B4F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execution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B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verifies actions</a:t>
            </a:r>
            <a:endParaRPr lang="en-US" sz="1300" dirty="0"/>
          </a:p>
        </p:txBody>
      </p:sp>
      <p:sp>
        <p:nvSpPr>
          <p:cNvPr id="131" name="Text 0"/>
          <p:cNvSpPr txBox="1"/>
          <p:nvPr/>
        </p:nvSpPr>
        <p:spPr>
          <a:xfrm>
            <a:off x="3694463" y="4715364"/>
            <a:ext cx="1332667" cy="1000033"/>
          </a:xfrm>
          <a:prstGeom prst="roundRect">
            <a:avLst>
              <a:gd name="adj" fmla="val 9231"/>
            </a:avLst>
          </a:prstGeom>
          <a:solidFill>
            <a:srgbClr val="3C3C36"/>
          </a:solidFill>
          <a:ln w="19050">
            <a:solidFill>
              <a:srgbClr val="B0B0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E6E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05.Event </a:t>
            </a:r>
            <a:r>
              <a:rPr lang="en-US" sz="1400" b="1" dirty="0">
                <a:solidFill>
                  <a:srgbClr val="E6E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Risk Router</a:t>
            </a:r>
            <a:endParaRPr lang="en-US" sz="1400" dirty="0"/>
          </a:p>
        </p:txBody>
      </p:sp>
      <p:sp>
        <p:nvSpPr>
          <p:cNvPr id="126" name="Rectangle 125"/>
          <p:cNvSpPr/>
          <p:nvPr/>
        </p:nvSpPr>
        <p:spPr>
          <a:xfrm>
            <a:off x="4022778" y="4239742"/>
            <a:ext cx="748923" cy="433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b="1" dirty="0" smtClean="0">
                <a:solidFill>
                  <a:srgbClr val="008037"/>
                </a:solidFill>
                <a:latin typeface="Roboto Bold"/>
                <a:ea typeface="Roboto Bold"/>
                <a:cs typeface="Roboto Bold"/>
                <a:sym typeface="Roboto Bold"/>
              </a:rPr>
              <a:t>(P03)</a:t>
            </a:r>
            <a:endParaRPr lang="en-US" b="1" dirty="0">
              <a:solidFill>
                <a:srgbClr val="008037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5" name="Shape 5"/>
          <p:cNvSpPr/>
          <p:nvPr/>
        </p:nvSpPr>
        <p:spPr>
          <a:xfrm flipH="1">
            <a:off x="4022778" y="5715396"/>
            <a:ext cx="338019" cy="167861"/>
          </a:xfrm>
          <a:prstGeom prst="line">
            <a:avLst/>
          </a:prstGeom>
          <a:noFill/>
          <a:ln w="31750">
            <a:solidFill>
              <a:srgbClr val="5FCFA0"/>
            </a:solidFill>
            <a:prstDash val="solid"/>
            <a:tailEnd type="triangle"/>
          </a:ln>
        </p:spPr>
      </p:sp>
      <p:sp>
        <p:nvSpPr>
          <p:cNvPr id="136" name="Shape 5"/>
          <p:cNvSpPr/>
          <p:nvPr/>
        </p:nvSpPr>
        <p:spPr>
          <a:xfrm flipH="1">
            <a:off x="2767674" y="6237197"/>
            <a:ext cx="111932" cy="0"/>
          </a:xfrm>
          <a:prstGeom prst="line">
            <a:avLst/>
          </a:prstGeom>
          <a:noFill/>
          <a:ln w="31750">
            <a:solidFill>
              <a:srgbClr val="5FCFA0"/>
            </a:solidFill>
            <a:prstDash val="solid"/>
            <a:tailEnd type="triangle"/>
          </a:ln>
        </p:spPr>
      </p:sp>
      <p:sp>
        <p:nvSpPr>
          <p:cNvPr id="137" name="Shape 5"/>
          <p:cNvSpPr/>
          <p:nvPr/>
        </p:nvSpPr>
        <p:spPr>
          <a:xfrm flipH="1">
            <a:off x="4392170" y="4592028"/>
            <a:ext cx="0" cy="123336"/>
          </a:xfrm>
          <a:prstGeom prst="line">
            <a:avLst/>
          </a:prstGeom>
          <a:noFill/>
          <a:ln w="31750">
            <a:solidFill>
              <a:srgbClr val="5FCFA0"/>
            </a:solidFill>
            <a:prstDash val="solid"/>
            <a:tailEnd type="triangle"/>
          </a:ln>
        </p:spPr>
      </p:sp>
      <p:sp>
        <p:nvSpPr>
          <p:cNvPr id="138" name="Freeform 49"/>
          <p:cNvSpPr/>
          <p:nvPr/>
        </p:nvSpPr>
        <p:spPr>
          <a:xfrm>
            <a:off x="7738547" y="4104190"/>
            <a:ext cx="4291389" cy="2652210"/>
          </a:xfrm>
          <a:custGeom>
            <a:avLst/>
            <a:gdLst/>
            <a:ahLst/>
            <a:cxnLst/>
            <a:rect l="l" t="t" r="r" b="b"/>
            <a:pathLst>
              <a:path w="6114230" h="3651284">
                <a:moveTo>
                  <a:pt x="0" y="0"/>
                </a:moveTo>
                <a:lnTo>
                  <a:pt x="6114230" y="0"/>
                </a:lnTo>
                <a:lnTo>
                  <a:pt x="6114230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363" name="Rectangle 15362"/>
          <p:cNvSpPr/>
          <p:nvPr/>
        </p:nvSpPr>
        <p:spPr>
          <a:xfrm>
            <a:off x="7817562" y="4140849"/>
            <a:ext cx="1975734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219"/>
              </a:lnSpc>
            </a:pPr>
            <a:r>
              <a:rPr lang="en-US" b="1" dirty="0">
                <a:solidFill>
                  <a:srgbClr val="00809D"/>
                </a:solidFill>
                <a:latin typeface="Roboto Bold"/>
                <a:ea typeface="Roboto Bold"/>
                <a:cs typeface="Roboto Bold"/>
                <a:sym typeface="Roboto Bold"/>
              </a:rPr>
              <a:t>TARGET USERS</a:t>
            </a:r>
          </a:p>
        </p:txBody>
      </p:sp>
      <p:sp>
        <p:nvSpPr>
          <p:cNvPr id="140" name="Freeform 51"/>
          <p:cNvSpPr/>
          <p:nvPr/>
        </p:nvSpPr>
        <p:spPr>
          <a:xfrm>
            <a:off x="7817562" y="4583701"/>
            <a:ext cx="664676" cy="545628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364" name="Rectangle 15363"/>
          <p:cNvSpPr/>
          <p:nvPr/>
        </p:nvSpPr>
        <p:spPr>
          <a:xfrm>
            <a:off x="8482238" y="4518932"/>
            <a:ext cx="2762295" cy="392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16"/>
              </a:lnSpc>
            </a:pPr>
            <a:r>
              <a:rPr lang="en-US" sz="1400" b="1" dirty="0">
                <a:solidFill>
                  <a:srgbClr val="00809D"/>
                </a:solidFill>
                <a:latin typeface="Roboto Bold"/>
                <a:ea typeface="Roboto Bold"/>
                <a:cs typeface="Roboto Bold"/>
                <a:sym typeface="Roboto Bold"/>
              </a:rPr>
              <a:t>STUDENTS &amp; RESEARCHERS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8668555" y="4719116"/>
            <a:ext cx="3240654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47"/>
              </a:lnSpc>
            </a:pPr>
            <a:r>
              <a:rPr lang="en-US" sz="1200" dirty="0" smtClean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SECURED AI-ASSISTED </a:t>
            </a:r>
            <a:r>
              <a:rPr lang="en-US" sz="12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BROWSING</a:t>
            </a:r>
          </a:p>
        </p:txBody>
      </p:sp>
      <p:sp>
        <p:nvSpPr>
          <p:cNvPr id="143" name="Freeform 53"/>
          <p:cNvSpPr/>
          <p:nvPr/>
        </p:nvSpPr>
        <p:spPr>
          <a:xfrm>
            <a:off x="7842343" y="5178727"/>
            <a:ext cx="615113" cy="556719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366" name="Rectangle 15365"/>
          <p:cNvSpPr/>
          <p:nvPr/>
        </p:nvSpPr>
        <p:spPr>
          <a:xfrm>
            <a:off x="8556783" y="5111980"/>
            <a:ext cx="1721946" cy="392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16"/>
              </a:lnSpc>
            </a:pPr>
            <a:r>
              <a:rPr lang="en-US" sz="1400" b="1" dirty="0">
                <a:solidFill>
                  <a:srgbClr val="00809D"/>
                </a:solidFill>
                <a:latin typeface="Roboto Bold"/>
                <a:ea typeface="Roboto Bold"/>
                <a:cs typeface="Roboto Bold"/>
                <a:sym typeface="Roboto Bold"/>
              </a:rPr>
              <a:t>PROFESSIONALS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8740847" y="5316931"/>
            <a:ext cx="2421560" cy="367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547"/>
              </a:lnSpc>
            </a:pPr>
            <a:r>
              <a:rPr lang="en-US" sz="12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 CONFIDENTIAL WORKFLOWS</a:t>
            </a:r>
          </a:p>
        </p:txBody>
      </p:sp>
      <p:sp>
        <p:nvSpPr>
          <p:cNvPr id="146" name="Freeform 56"/>
          <p:cNvSpPr/>
          <p:nvPr/>
        </p:nvSpPr>
        <p:spPr>
          <a:xfrm>
            <a:off x="7869484" y="5804415"/>
            <a:ext cx="799071" cy="489396"/>
          </a:xfrm>
          <a:custGeom>
            <a:avLst/>
            <a:gdLst/>
            <a:ahLst/>
            <a:cxnLst/>
            <a:rect l="l" t="t" r="r" b="b"/>
            <a:pathLst>
              <a:path w="1104718" h="874559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5368" name="Rectangle 15367"/>
          <p:cNvSpPr/>
          <p:nvPr/>
        </p:nvSpPr>
        <p:spPr>
          <a:xfrm>
            <a:off x="8653978" y="5744018"/>
            <a:ext cx="2012089" cy="392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16"/>
              </a:lnSpc>
            </a:pPr>
            <a:r>
              <a:rPr lang="en-US" sz="1400" b="1" dirty="0">
                <a:solidFill>
                  <a:srgbClr val="00809D"/>
                </a:solidFill>
                <a:latin typeface="Roboto Bold"/>
                <a:ea typeface="Roboto Bold"/>
                <a:cs typeface="Roboto Bold"/>
                <a:sym typeface="Roboto Bold"/>
              </a:rPr>
              <a:t>ENTERPRISE TEAMS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8706388" y="5948250"/>
            <a:ext cx="3121175" cy="367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547"/>
              </a:lnSpc>
            </a:pPr>
            <a:r>
              <a:rPr lang="en-US" sz="12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CONTROLLED BROWSER AUTOMATION</a:t>
            </a:r>
          </a:p>
        </p:txBody>
      </p:sp>
      <p:sp>
        <p:nvSpPr>
          <p:cNvPr id="150" name="Freeform 44"/>
          <p:cNvSpPr/>
          <p:nvPr/>
        </p:nvSpPr>
        <p:spPr>
          <a:xfrm>
            <a:off x="5245799" y="4188311"/>
            <a:ext cx="2385446" cy="2324295"/>
          </a:xfrm>
          <a:custGeom>
            <a:avLst/>
            <a:gdLst/>
            <a:ahLst/>
            <a:cxnLst/>
            <a:rect l="l" t="t" r="r" b="b"/>
            <a:pathLst>
              <a:path w="5228268" h="3651284">
                <a:moveTo>
                  <a:pt x="0" y="0"/>
                </a:moveTo>
                <a:lnTo>
                  <a:pt x="5228268" y="0"/>
                </a:lnTo>
                <a:lnTo>
                  <a:pt x="5228268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51" name="Freeform 45"/>
          <p:cNvSpPr/>
          <p:nvPr/>
        </p:nvSpPr>
        <p:spPr>
          <a:xfrm>
            <a:off x="5231013" y="4211839"/>
            <a:ext cx="2400232" cy="328391"/>
          </a:xfrm>
          <a:custGeom>
            <a:avLst/>
            <a:gdLst/>
            <a:ahLst/>
            <a:cxnLst/>
            <a:rect l="l" t="t" r="r" b="b"/>
            <a:pathLst>
              <a:path w="5228268" h="644987">
                <a:moveTo>
                  <a:pt x="0" y="0"/>
                </a:moveTo>
                <a:lnTo>
                  <a:pt x="5228268" y="0"/>
                </a:lnTo>
                <a:lnTo>
                  <a:pt x="5228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52" name="Freeform 46"/>
          <p:cNvSpPr/>
          <p:nvPr/>
        </p:nvSpPr>
        <p:spPr>
          <a:xfrm>
            <a:off x="5306836" y="4287670"/>
            <a:ext cx="274086" cy="259504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5370" name="Rectangle 15369"/>
          <p:cNvSpPr/>
          <p:nvPr/>
        </p:nvSpPr>
        <p:spPr>
          <a:xfrm>
            <a:off x="5575090" y="4090670"/>
            <a:ext cx="2061783" cy="4234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219"/>
              </a:lnSpc>
            </a:pPr>
            <a:r>
              <a:rPr lang="en-US" sz="8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DESIGNED AROUND GIVEN CRITERIA</a:t>
            </a:r>
          </a:p>
        </p:txBody>
      </p:sp>
      <p:sp>
        <p:nvSpPr>
          <p:cNvPr id="154" name="Freeform 48"/>
          <p:cNvSpPr/>
          <p:nvPr/>
        </p:nvSpPr>
        <p:spPr>
          <a:xfrm>
            <a:off x="7153421" y="6051571"/>
            <a:ext cx="552904" cy="515374"/>
          </a:xfrm>
          <a:custGeom>
            <a:avLst/>
            <a:gdLst/>
            <a:ahLst/>
            <a:cxnLst/>
            <a:rect l="l" t="t" r="r" b="b"/>
            <a:pathLst>
              <a:path w="1312536" h="1508614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15371" name="TextBox 15370"/>
          <p:cNvSpPr txBox="1"/>
          <p:nvPr/>
        </p:nvSpPr>
        <p:spPr>
          <a:xfrm>
            <a:off x="5308489" y="4572322"/>
            <a:ext cx="21271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VISUAL CONTEXT ACCURACY</a:t>
            </a:r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PII DETECTION </a:t>
            </a:r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REDACTION PRECISION</a:t>
            </a:r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CLIENT RESOURCES</a:t>
            </a:r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END-TO-END LATENCY</a:t>
            </a:r>
          </a:p>
          <a:p>
            <a:pPr algn="ctr"/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rot="12246768" flipV="1">
            <a:off x="4656566" y="6693025"/>
            <a:ext cx="474382" cy="16346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Footer Placeholder 6"/>
          <p:cNvSpPr txBox="1">
            <a:spLocks/>
          </p:cNvSpPr>
          <p:nvPr/>
        </p:nvSpPr>
        <p:spPr>
          <a:xfrm flipH="1">
            <a:off x="4716222" y="7002532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29078" y="515215"/>
            <a:ext cx="390026" cy="390144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779" y="957352"/>
            <a:ext cx="12191998" cy="50292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 rot="5400000">
            <a:off x="199771" y="3732162"/>
            <a:ext cx="5494756" cy="45719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-1784" y="1056803"/>
            <a:ext cx="1165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Software :</a:t>
            </a:r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05" y="1377449"/>
            <a:ext cx="29632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Chrome &amp; Firefox </a:t>
            </a:r>
            <a:r>
              <a:rPr lang="en-US" sz="1600" dirty="0" smtClean="0"/>
              <a:t>Web Extension </a:t>
            </a:r>
            <a:r>
              <a:rPr lang="en-US" sz="1600" dirty="0"/>
              <a:t>(MV3</a:t>
            </a:r>
            <a:r>
              <a:rPr lang="en-US" sz="16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JavaScript / </a:t>
            </a:r>
            <a:r>
              <a:rPr lang="en-US" sz="1600" dirty="0" smtClean="0"/>
              <a:t>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ONNX Runtime Web + </a:t>
            </a:r>
            <a:r>
              <a:rPr lang="en-US" sz="1600" dirty="0" smtClean="0"/>
              <a:t>Transformers.js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WebGPU with WASM </a:t>
            </a:r>
            <a:r>
              <a:rPr lang="en-US" sz="1600" dirty="0" smtClean="0"/>
              <a:t>fallback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Local OCR + visual </a:t>
            </a:r>
            <a:r>
              <a:rPr lang="en-US" sz="1600" dirty="0" smtClean="0"/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 + ARIA / Accessibility </a:t>
            </a:r>
            <a:r>
              <a:rPr lang="en-US" sz="1600" dirty="0" smtClean="0"/>
              <a:t>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Python backend + </a:t>
            </a:r>
            <a:r>
              <a:rPr lang="en-US" sz="1600" dirty="0" smtClean="0"/>
              <a:t>LLM/VLM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Secure token vault + policy engine</a:t>
            </a:r>
          </a:p>
        </p:txBody>
      </p:sp>
      <p:cxnSp>
        <p:nvCxnSpPr>
          <p:cNvPr id="27" name="Connector 112"/>
          <p:cNvCxnSpPr/>
          <p:nvPr/>
        </p:nvCxnSpPr>
        <p:spPr>
          <a:xfrm flipH="1">
            <a:off x="-1784" y="4424437"/>
            <a:ext cx="2917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405" y="4439530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Models :</a:t>
            </a:r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05" y="4734569"/>
            <a:ext cx="289988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Florence-2-base</a:t>
            </a:r>
            <a:r>
              <a:rPr lang="en-US" sz="1600" dirty="0" smtClean="0"/>
              <a:t>: grounding </a:t>
            </a:r>
            <a:r>
              <a:rPr lang="en-US" sz="1600" dirty="0"/>
              <a:t>&amp; </a:t>
            </a:r>
            <a:r>
              <a:rPr lang="en-US" sz="1600" dirty="0" smtClean="0"/>
              <a:t>OCR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MediaPipe</a:t>
            </a:r>
            <a:r>
              <a:rPr lang="en-US" sz="1600" dirty="0" smtClean="0"/>
              <a:t>: face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DBNet/</a:t>
            </a:r>
            <a:r>
              <a:rPr lang="en-US" sz="1600" b="1" dirty="0" err="1"/>
              <a:t>PaddleOCR</a:t>
            </a:r>
            <a:r>
              <a:rPr lang="en-US" sz="1600" b="1" dirty="0"/>
              <a:t> + </a:t>
            </a:r>
            <a:r>
              <a:rPr lang="en-US" sz="1600" b="1" dirty="0" smtClean="0"/>
              <a:t>GLiNER: </a:t>
            </a:r>
            <a:r>
              <a:rPr lang="en-US" sz="1600" dirty="0" smtClean="0"/>
              <a:t>text/PII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Server-side open-weight </a:t>
            </a:r>
            <a:r>
              <a:rPr lang="en-US" sz="1600" b="1" dirty="0" smtClean="0"/>
              <a:t>LLM/VLM</a:t>
            </a:r>
            <a:r>
              <a:rPr lang="en-US" sz="1600" dirty="0" smtClean="0"/>
              <a:t>: </a:t>
            </a:r>
            <a:r>
              <a:rPr lang="en-US" sz="1600" dirty="0"/>
              <a:t>reasoning</a:t>
            </a:r>
            <a:endParaRPr lang="en-US" sz="1600" dirty="0" smtClean="0"/>
          </a:p>
        </p:txBody>
      </p:sp>
      <p:sp>
        <p:nvSpPr>
          <p:cNvPr id="281" name="TextBox 280"/>
          <p:cNvSpPr txBox="1"/>
          <p:nvPr/>
        </p:nvSpPr>
        <p:spPr>
          <a:xfrm>
            <a:off x="4250417" y="6206894"/>
            <a:ext cx="3329951" cy="233910"/>
          </a:xfrm>
          <a:prstGeom prst="rect">
            <a:avLst/>
          </a:prstGeom>
          <a:noFill/>
        </p:spPr>
        <p:txBody>
          <a:bodyPr wrap="none" lIns="32004" tIns="32004" rIns="32004" bIns="32004" anchor="ctr">
            <a:spAutoFit/>
          </a:bodyPr>
          <a:lstStyle/>
          <a:p>
            <a:pPr algn="ctr"/>
            <a:r>
              <a:rPr sz="1100" b="0" dirty="0">
                <a:solidFill>
                  <a:srgbClr val="4E6071"/>
                </a:solidFill>
                <a:latin typeface="Aptos"/>
              </a:rPr>
              <a:t>DOM/A11y = universal path   •   WebMCP = optional</a:t>
            </a:r>
          </a:p>
        </p:txBody>
      </p:sp>
      <p:grpSp>
        <p:nvGrpSpPr>
          <p:cNvPr id="328" name="Group 327"/>
          <p:cNvGrpSpPr/>
          <p:nvPr/>
        </p:nvGrpSpPr>
        <p:grpSpPr>
          <a:xfrm>
            <a:off x="3017663" y="1518518"/>
            <a:ext cx="9178258" cy="4684643"/>
            <a:chOff x="2976719" y="1518518"/>
            <a:chExt cx="9178258" cy="4684643"/>
          </a:xfrm>
        </p:grpSpPr>
        <p:sp>
          <p:nvSpPr>
            <p:cNvPr id="181" name="TextBox 180"/>
            <p:cNvSpPr txBox="1"/>
            <p:nvPr/>
          </p:nvSpPr>
          <p:spPr>
            <a:xfrm>
              <a:off x="10688134" y="1790981"/>
              <a:ext cx="1362064" cy="38779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REMOTE REASONING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3377801" y="1518518"/>
              <a:ext cx="2483821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l"/>
              <a:r>
                <a:rPr sz="1200" b="1" dirty="0">
                  <a:solidFill>
                    <a:srgbClr val="235B96"/>
                  </a:solidFill>
                  <a:latin typeface="Aptos"/>
                </a:rPr>
                <a:t>LOCAL PERCEPTION + PRIVACY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9297678" y="2474603"/>
              <a:ext cx="1170614" cy="155415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20" b="1">
                  <a:solidFill>
                    <a:srgbClr val="BE4242"/>
                  </a:solidFill>
                  <a:latin typeface="Aptos"/>
                </a:rPr>
                <a:t>NO RAW PII</a:t>
              </a:r>
            </a:p>
          </p:txBody>
        </p:sp>
        <p:cxnSp>
          <p:nvCxnSpPr>
            <p:cNvPr id="248" name="Connector 72"/>
            <p:cNvCxnSpPr/>
            <p:nvPr/>
          </p:nvCxnSpPr>
          <p:spPr>
            <a:xfrm>
              <a:off x="11423664" y="3619722"/>
              <a:ext cx="0" cy="994515"/>
            </a:xfrm>
            <a:prstGeom prst="line">
              <a:avLst/>
            </a:prstGeom>
            <a:ln w="1524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5301664" y="4687771"/>
              <a:ext cx="4316710" cy="19543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7</a:t>
              </a:r>
              <a:r>
                <a:rPr lang="en-US" sz="850" b="1" dirty="0" smtClean="0">
                  <a:solidFill>
                    <a:srgbClr val="235B96"/>
                  </a:solidFill>
                  <a:latin typeface="Aptos"/>
                </a:rPr>
                <a:t>.</a:t>
              </a:r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  REMOTE PLAN RETURNS </a:t>
              </a:r>
              <a:r>
                <a:rPr lang="en-US" sz="850" b="1" dirty="0">
                  <a:solidFill>
                    <a:srgbClr val="235B96"/>
                  </a:solidFill>
                  <a:latin typeface="Aptos"/>
                </a:rPr>
                <a:t>→</a:t>
              </a:r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  </a:t>
              </a:r>
              <a:r>
                <a:rPr sz="850" b="1" dirty="0">
                  <a:solidFill>
                    <a:srgbClr val="235B96"/>
                  </a:solidFill>
                  <a:latin typeface="Aptos"/>
                </a:rPr>
                <a:t>LOCAL POLICY CHECK  →  LOCAL EXECUTION</a:t>
              </a:r>
            </a:p>
          </p:txBody>
        </p:sp>
        <p:cxnSp>
          <p:nvCxnSpPr>
            <p:cNvPr id="256" name="Connector 102"/>
            <p:cNvCxnSpPr/>
            <p:nvPr/>
          </p:nvCxnSpPr>
          <p:spPr>
            <a:xfrm>
              <a:off x="11364991" y="3595897"/>
              <a:ext cx="0" cy="986194"/>
            </a:xfrm>
            <a:prstGeom prst="line">
              <a:avLst/>
            </a:prstGeom>
            <a:ln w="1524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5868741" y="3845663"/>
              <a:ext cx="8335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fld id="{677C3CE7-23F7-4828-823C-E0205DF2CF97}" type="slidenum">
                <a:rPr lang="en-US" b="1">
                  <a:solidFill>
                    <a:schemeClr val="bg1"/>
                  </a:solidFill>
                </a:rPr>
                <a:pPr/>
                <a:t>3</a:t>
              </a:fld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3104850" y="1748054"/>
              <a:ext cx="6109140" cy="2797464"/>
            </a:xfrm>
            <a:prstGeom prst="roundRect">
              <a:avLst/>
            </a:prstGeom>
            <a:solidFill>
              <a:srgbClr val="FBFCFE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3335908" y="1845756"/>
              <a:ext cx="2158155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l"/>
              <a:r>
                <a:rPr sz="1000" b="1" dirty="0">
                  <a:solidFill>
                    <a:srgbClr val="0C1F35"/>
                  </a:solidFill>
                  <a:latin typeface="Aptos"/>
                </a:rPr>
                <a:t>ON-DEVICE PRIVACY BOUNDARY</a:t>
              </a:r>
            </a:p>
          </p:txBody>
        </p:sp>
        <p:sp>
          <p:nvSpPr>
            <p:cNvPr id="184" name="Oval 183"/>
            <p:cNvSpPr/>
            <p:nvPr/>
          </p:nvSpPr>
          <p:spPr>
            <a:xfrm>
              <a:off x="3273126" y="2159903"/>
              <a:ext cx="175592" cy="186498"/>
            </a:xfrm>
            <a:prstGeom prst="ellipse">
              <a:avLst/>
            </a:prstGeom>
            <a:solidFill>
              <a:srgbClr val="235B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273126" y="2159903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1</a:t>
              </a:r>
            </a:p>
          </p:txBody>
        </p:sp>
        <p:sp>
          <p:nvSpPr>
            <p:cNvPr id="186" name="Rounded Rectangle 185"/>
            <p:cNvSpPr/>
            <p:nvPr/>
          </p:nvSpPr>
          <p:spPr>
            <a:xfrm>
              <a:off x="3507249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706097" y="2205980"/>
              <a:ext cx="333938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 smtClean="0">
                  <a:solidFill>
                    <a:srgbClr val="0C1F35"/>
                  </a:solidFill>
                  <a:latin typeface="Aptos"/>
                </a:rPr>
                <a:t>DOM</a:t>
              </a:r>
              <a:endParaRPr sz="900" b="1" dirty="0">
                <a:solidFill>
                  <a:srgbClr val="0C1F35"/>
                </a:solidFill>
                <a:latin typeface="Aptos"/>
              </a:endParaRPr>
            </a:p>
          </p:txBody>
        </p:sp>
        <p:sp>
          <p:nvSpPr>
            <p:cNvPr id="188" name="Rounded Rectangle 187"/>
            <p:cNvSpPr/>
            <p:nvPr/>
          </p:nvSpPr>
          <p:spPr>
            <a:xfrm>
              <a:off x="4348627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4537857" y="2205980"/>
              <a:ext cx="353174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A11Y</a:t>
              </a:r>
            </a:p>
          </p:txBody>
        </p:sp>
        <p:sp>
          <p:nvSpPr>
            <p:cNvPr id="190" name="Rounded Rectangle 189"/>
            <p:cNvSpPr/>
            <p:nvPr/>
          </p:nvSpPr>
          <p:spPr>
            <a:xfrm>
              <a:off x="5190006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5283056" y="2205980"/>
              <a:ext cx="545534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SCREEN</a:t>
              </a:r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6177711" y="2035571"/>
              <a:ext cx="1155981" cy="543951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6261720" y="2054566"/>
              <a:ext cx="987963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EVENT + RISK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6438851" y="2279917"/>
              <a:ext cx="633700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ROUTER</a:t>
              </a:r>
            </a:p>
          </p:txBody>
        </p:sp>
        <p:cxnSp>
          <p:nvCxnSpPr>
            <p:cNvPr id="195" name="Connector 18"/>
            <p:cNvCxnSpPr>
              <a:endCxn id="286" idx="0"/>
            </p:cNvCxnSpPr>
            <p:nvPr/>
          </p:nvCxnSpPr>
          <p:spPr>
            <a:xfrm flipV="1">
              <a:off x="4238882" y="2306454"/>
              <a:ext cx="87797" cy="1093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"/>
            <p:cNvCxnSpPr>
              <a:stCxn id="190" idx="3"/>
            </p:cNvCxnSpPr>
            <p:nvPr/>
          </p:nvCxnSpPr>
          <p:spPr>
            <a:xfrm>
              <a:off x="5921640" y="2307547"/>
              <a:ext cx="256072" cy="0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20"/>
            <p:cNvCxnSpPr/>
            <p:nvPr/>
          </p:nvCxnSpPr>
          <p:spPr>
            <a:xfrm>
              <a:off x="5921640" y="2307547"/>
              <a:ext cx="256072" cy="0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Oval 197"/>
            <p:cNvSpPr/>
            <p:nvPr/>
          </p:nvSpPr>
          <p:spPr>
            <a:xfrm>
              <a:off x="7399539" y="1911239"/>
              <a:ext cx="175592" cy="186498"/>
            </a:xfrm>
            <a:prstGeom prst="ellipse">
              <a:avLst/>
            </a:prstGeom>
            <a:solidFill>
              <a:srgbClr val="235B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7399539" y="191123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2</a:t>
              </a:r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7619030" y="1988947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7645064" y="2027177"/>
              <a:ext cx="1008801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0C1F35"/>
                  </a:solidFill>
                  <a:latin typeface="Aptos"/>
                </a:rPr>
                <a:t>LOW  • DOM / A11Y</a:t>
              </a:r>
            </a:p>
          </p:txBody>
        </p:sp>
        <p:cxnSp>
          <p:nvCxnSpPr>
            <p:cNvPr id="202" name="Connector 25"/>
            <p:cNvCxnSpPr/>
            <p:nvPr/>
          </p:nvCxnSpPr>
          <p:spPr>
            <a:xfrm flipV="1">
              <a:off x="7333692" y="2121049"/>
              <a:ext cx="285337" cy="186498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/>
            <p:cNvSpPr/>
            <p:nvPr/>
          </p:nvSpPr>
          <p:spPr>
            <a:xfrm>
              <a:off x="7619030" y="2354171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646666" y="2384707"/>
              <a:ext cx="1005596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MED  • OCR + CV</a:t>
              </a:r>
            </a:p>
          </p:txBody>
        </p:sp>
        <p:cxnSp>
          <p:nvCxnSpPr>
            <p:cNvPr id="205" name="Connector 28"/>
            <p:cNvCxnSpPr/>
            <p:nvPr/>
          </p:nvCxnSpPr>
          <p:spPr>
            <a:xfrm>
              <a:off x="7333692" y="2307547"/>
              <a:ext cx="285337" cy="178727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Rounded Rectangle 205"/>
            <p:cNvSpPr/>
            <p:nvPr/>
          </p:nvSpPr>
          <p:spPr>
            <a:xfrm>
              <a:off x="7619030" y="2719396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7798951" y="2749932"/>
              <a:ext cx="701026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HIGH </a:t>
              </a:r>
              <a:r>
                <a:rPr sz="900" b="1" dirty="0" smtClean="0">
                  <a:solidFill>
                    <a:srgbClr val="0C1F35"/>
                  </a:solidFill>
                  <a:latin typeface="Aptos"/>
                </a:rPr>
                <a:t>• </a:t>
              </a:r>
              <a:r>
                <a:rPr sz="900" b="1" dirty="0">
                  <a:solidFill>
                    <a:srgbClr val="0C1F35"/>
                  </a:solidFill>
                  <a:latin typeface="Aptos"/>
                </a:rPr>
                <a:t>VLM</a:t>
              </a:r>
            </a:p>
          </p:txBody>
        </p:sp>
        <p:cxnSp>
          <p:nvCxnSpPr>
            <p:cNvPr id="208" name="Connector 31"/>
            <p:cNvCxnSpPr/>
            <p:nvPr/>
          </p:nvCxnSpPr>
          <p:spPr>
            <a:xfrm>
              <a:off x="7333692" y="2307547"/>
              <a:ext cx="285337" cy="543951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Oval 208"/>
            <p:cNvSpPr/>
            <p:nvPr/>
          </p:nvSpPr>
          <p:spPr>
            <a:xfrm>
              <a:off x="3448718" y="2960289"/>
              <a:ext cx="175592" cy="186498"/>
            </a:xfrm>
            <a:prstGeom prst="ellipse">
              <a:avLst/>
            </a:prstGeom>
            <a:solidFill>
              <a:srgbClr val="1C7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3448718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3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3668208" y="3084620"/>
              <a:ext cx="1843717" cy="466244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1C7A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3736210" y="3200787"/>
              <a:ext cx="1707712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1C7A84"/>
                  </a:solidFill>
                  <a:latin typeface="Aptos"/>
                </a:rPr>
                <a:t>UNIFIED SCENE GRAPH</a:t>
              </a:r>
            </a:p>
          </p:txBody>
        </p:sp>
        <p:cxnSp>
          <p:nvCxnSpPr>
            <p:cNvPr id="213" name="Connector 36"/>
            <p:cNvCxnSpPr/>
            <p:nvPr/>
          </p:nvCxnSpPr>
          <p:spPr>
            <a:xfrm flipH="1">
              <a:off x="5511925" y="2253152"/>
              <a:ext cx="2107105" cy="1064591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 37"/>
            <p:cNvCxnSpPr/>
            <p:nvPr/>
          </p:nvCxnSpPr>
          <p:spPr>
            <a:xfrm flipH="1">
              <a:off x="5511925" y="2618376"/>
              <a:ext cx="2107105" cy="699366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38"/>
            <p:cNvCxnSpPr>
              <a:stCxn id="206" idx="1"/>
            </p:cNvCxnSpPr>
            <p:nvPr/>
          </p:nvCxnSpPr>
          <p:spPr>
            <a:xfrm flipH="1">
              <a:off x="5511927" y="2851499"/>
              <a:ext cx="2107103" cy="466243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Oval 215"/>
            <p:cNvSpPr/>
            <p:nvPr/>
          </p:nvSpPr>
          <p:spPr>
            <a:xfrm>
              <a:off x="5702149" y="2960289"/>
              <a:ext cx="175592" cy="186498"/>
            </a:xfrm>
            <a:prstGeom prst="ellipse">
              <a:avLst/>
            </a:prstGeom>
            <a:solidFill>
              <a:srgbClr val="E279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702149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4</a:t>
              </a:r>
            </a:p>
          </p:txBody>
        </p:sp>
        <p:sp>
          <p:nvSpPr>
            <p:cNvPr id="218" name="Rounded Rectangle 217"/>
            <p:cNvSpPr/>
            <p:nvPr/>
          </p:nvSpPr>
          <p:spPr>
            <a:xfrm>
              <a:off x="5760679" y="3084620"/>
              <a:ext cx="1353522" cy="466244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5828843" y="3204634"/>
              <a:ext cx="1217193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E27922"/>
                  </a:solidFill>
                  <a:latin typeface="Aptos"/>
                </a:rPr>
                <a:t>PRIVACY ENGINE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5797585" y="3519387"/>
              <a:ext cx="1279709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0" dirty="0">
                  <a:solidFill>
                    <a:srgbClr val="4E6071"/>
                  </a:solidFill>
                  <a:latin typeface="Aptos"/>
                </a:rPr>
                <a:t>PII • faces • secrets</a:t>
              </a:r>
            </a:p>
          </p:txBody>
        </p:sp>
        <p:cxnSp>
          <p:nvCxnSpPr>
            <p:cNvPr id="221" name="Connector 44"/>
            <p:cNvCxnSpPr/>
            <p:nvPr/>
          </p:nvCxnSpPr>
          <p:spPr>
            <a:xfrm>
              <a:off x="5511925" y="3317742"/>
              <a:ext cx="248755" cy="0"/>
            </a:xfrm>
            <a:prstGeom prst="line">
              <a:avLst/>
            </a:prstGeom>
            <a:ln w="1524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Oval 221"/>
            <p:cNvSpPr/>
            <p:nvPr/>
          </p:nvSpPr>
          <p:spPr>
            <a:xfrm>
              <a:off x="7223947" y="2960289"/>
              <a:ext cx="175592" cy="186498"/>
            </a:xfrm>
            <a:prstGeom prst="ellipse">
              <a:avLst/>
            </a:prstGeom>
            <a:solidFill>
              <a:srgbClr val="E279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7223947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5</a:t>
              </a:r>
            </a:p>
          </p:txBody>
        </p:sp>
        <p:sp>
          <p:nvSpPr>
            <p:cNvPr id="224" name="Rounded Rectangle 223"/>
            <p:cNvSpPr/>
            <p:nvPr/>
          </p:nvSpPr>
          <p:spPr>
            <a:xfrm>
              <a:off x="7297111" y="3084620"/>
              <a:ext cx="936491" cy="4662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7409233" y="3131537"/>
              <a:ext cx="712246" cy="3724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E27922"/>
                  </a:solidFill>
                  <a:latin typeface="Aptos"/>
                </a:rPr>
                <a:t>TOKENIZE
+ REDACT</a:t>
              </a:r>
            </a:p>
          </p:txBody>
        </p:sp>
        <p:cxnSp>
          <p:nvCxnSpPr>
            <p:cNvPr id="226" name="Connector 49"/>
            <p:cNvCxnSpPr/>
            <p:nvPr/>
          </p:nvCxnSpPr>
          <p:spPr>
            <a:xfrm>
              <a:off x="7114202" y="3317742"/>
              <a:ext cx="182908" cy="0"/>
            </a:xfrm>
            <a:prstGeom prst="line">
              <a:avLst/>
            </a:prstGeom>
            <a:ln w="1524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Oval 226"/>
            <p:cNvSpPr/>
            <p:nvPr/>
          </p:nvSpPr>
          <p:spPr>
            <a:xfrm>
              <a:off x="8306765" y="2960289"/>
              <a:ext cx="175592" cy="186498"/>
            </a:xfrm>
            <a:prstGeom prst="ellipse">
              <a:avLst/>
            </a:prstGeom>
            <a:solidFill>
              <a:srgbClr val="2F82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8306765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6</a:t>
              </a:r>
            </a:p>
          </p:txBody>
        </p:sp>
        <p:sp>
          <p:nvSpPr>
            <p:cNvPr id="229" name="Rounded Rectangle 228"/>
            <p:cNvSpPr/>
            <p:nvPr/>
          </p:nvSpPr>
          <p:spPr>
            <a:xfrm>
              <a:off x="8409194" y="3084620"/>
              <a:ext cx="658470" cy="466244"/>
            </a:xfrm>
            <a:prstGeom prst="roundRect">
              <a:avLst/>
            </a:prstGeom>
            <a:solidFill>
              <a:srgbClr val="F1F9F5"/>
            </a:solidFill>
            <a:ln w="13970">
              <a:solidFill>
                <a:srgbClr val="2F82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8401542" y="3146926"/>
              <a:ext cx="673775" cy="34163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2F825B"/>
                  </a:solidFill>
                  <a:latin typeface="Aptos"/>
                </a:rPr>
                <a:t>SANITIZED
STATE</a:t>
              </a:r>
            </a:p>
          </p:txBody>
        </p:sp>
        <p:cxnSp>
          <p:nvCxnSpPr>
            <p:cNvPr id="231" name="Connector 54"/>
            <p:cNvCxnSpPr/>
            <p:nvPr/>
          </p:nvCxnSpPr>
          <p:spPr>
            <a:xfrm>
              <a:off x="8233602" y="3317742"/>
              <a:ext cx="175592" cy="0"/>
            </a:xfrm>
            <a:prstGeom prst="line">
              <a:avLst/>
            </a:prstGeom>
            <a:ln w="15240">
              <a:solidFill>
                <a:srgbClr val="2F82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ounded Rectangle 242"/>
            <p:cNvSpPr/>
            <p:nvPr/>
          </p:nvSpPr>
          <p:spPr>
            <a:xfrm>
              <a:off x="3302391" y="4001567"/>
              <a:ext cx="5560415" cy="33414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0" name="Connector 96"/>
            <p:cNvCxnSpPr>
              <a:stCxn id="277" idx="0"/>
              <a:endCxn id="276" idx="0"/>
            </p:cNvCxnSpPr>
            <p:nvPr/>
          </p:nvCxnSpPr>
          <p:spPr>
            <a:xfrm>
              <a:off x="4280192" y="5593400"/>
              <a:ext cx="0" cy="0"/>
            </a:xfrm>
            <a:prstGeom prst="line">
              <a:avLst/>
            </a:prstGeom>
            <a:ln w="1143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125"/>
            <p:cNvCxnSpPr>
              <a:stCxn id="277" idx="1"/>
            </p:cNvCxnSpPr>
            <p:nvPr/>
          </p:nvCxnSpPr>
          <p:spPr>
            <a:xfrm flipH="1">
              <a:off x="3068039" y="5834293"/>
              <a:ext cx="601239" cy="7771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ctor 18"/>
            <p:cNvCxnSpPr>
              <a:stCxn id="188" idx="3"/>
              <a:endCxn id="287" idx="0"/>
            </p:cNvCxnSpPr>
            <p:nvPr/>
          </p:nvCxnSpPr>
          <p:spPr>
            <a:xfrm>
              <a:off x="5080261" y="2307547"/>
              <a:ext cx="98771" cy="526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Isosceles Triangle 285"/>
            <p:cNvSpPr/>
            <p:nvPr/>
          </p:nvSpPr>
          <p:spPr>
            <a:xfrm rot="5400000">
              <a:off x="4261943" y="2280046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Isosceles Triangle 286"/>
            <p:cNvSpPr/>
            <p:nvPr/>
          </p:nvSpPr>
          <p:spPr>
            <a:xfrm rot="5400000">
              <a:off x="5114296" y="2281665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Isosceles Triangle 287"/>
            <p:cNvSpPr/>
            <p:nvPr/>
          </p:nvSpPr>
          <p:spPr>
            <a:xfrm rot="5400000">
              <a:off x="5999572" y="2284577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Isosceles Triangle 288"/>
            <p:cNvSpPr/>
            <p:nvPr/>
          </p:nvSpPr>
          <p:spPr>
            <a:xfrm rot="3926777">
              <a:off x="7426752" y="2198208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Isosceles Triangle 289"/>
            <p:cNvSpPr/>
            <p:nvPr/>
          </p:nvSpPr>
          <p:spPr>
            <a:xfrm rot="7334479">
              <a:off x="7449005" y="2378864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Isosceles Triangle 290"/>
            <p:cNvSpPr/>
            <p:nvPr/>
          </p:nvSpPr>
          <p:spPr>
            <a:xfrm rot="8864455">
              <a:off x="7431308" y="2534347"/>
              <a:ext cx="72174" cy="5609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Isosceles Triangle 291"/>
            <p:cNvSpPr/>
            <p:nvPr/>
          </p:nvSpPr>
          <p:spPr>
            <a:xfrm rot="14518343">
              <a:off x="6768587" y="2643595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3" name="Isosceles Triangle 292"/>
            <p:cNvSpPr/>
            <p:nvPr/>
          </p:nvSpPr>
          <p:spPr>
            <a:xfrm rot="14518343">
              <a:off x="6875693" y="2823900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4" name="Isosceles Triangle 293"/>
            <p:cNvSpPr/>
            <p:nvPr/>
          </p:nvSpPr>
          <p:spPr>
            <a:xfrm rot="15232904">
              <a:off x="6950582" y="2964724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5" name="Isosceles Triangle 294"/>
            <p:cNvSpPr/>
            <p:nvPr/>
          </p:nvSpPr>
          <p:spPr>
            <a:xfrm rot="5400000">
              <a:off x="5643484" y="3291860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Isosceles Triangle 295"/>
            <p:cNvSpPr/>
            <p:nvPr/>
          </p:nvSpPr>
          <p:spPr>
            <a:xfrm rot="5400000">
              <a:off x="7178302" y="3290241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Isosceles Triangle 296"/>
            <p:cNvSpPr/>
            <p:nvPr/>
          </p:nvSpPr>
          <p:spPr>
            <a:xfrm rot="5400000">
              <a:off x="8281252" y="3285737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9499328" y="2174365"/>
              <a:ext cx="892593" cy="1445357"/>
            </a:xfrm>
            <a:prstGeom prst="roundRect">
              <a:avLst/>
            </a:prstGeom>
            <a:solidFill>
              <a:srgbClr val="FFF8F1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9592707" y="2283753"/>
              <a:ext cx="705834" cy="433965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200" b="1" dirty="0">
                  <a:solidFill>
                    <a:srgbClr val="E27922"/>
                  </a:solidFill>
                  <a:latin typeface="Aptos"/>
                </a:rPr>
                <a:t>EGRESS
GATE</a:t>
              </a: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525380" y="2772851"/>
              <a:ext cx="840488" cy="34163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BE4242"/>
                  </a:solidFill>
                  <a:latin typeface="Aptos"/>
                </a:rPr>
                <a:t>ALLOW ONLY
SANITIZED</a:t>
              </a: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9571067" y="3246102"/>
              <a:ext cx="749115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BE4242"/>
                  </a:solidFill>
                  <a:latin typeface="Aptos"/>
                </a:rPr>
                <a:t>FAIL CLOSED</a:t>
              </a:r>
            </a:p>
          </p:txBody>
        </p:sp>
        <p:sp>
          <p:nvSpPr>
            <p:cNvPr id="238" name="Rounded Rectangle 237"/>
            <p:cNvSpPr/>
            <p:nvPr/>
          </p:nvSpPr>
          <p:spPr>
            <a:xfrm>
              <a:off x="10611412" y="2174365"/>
              <a:ext cx="1448634" cy="1445357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0611412" y="2314238"/>
              <a:ext cx="1448634" cy="264205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80" b="1">
                  <a:solidFill>
                    <a:srgbClr val="235B96"/>
                  </a:solidFill>
                  <a:latin typeface="Aptos"/>
                </a:rPr>
                <a:t>CLOUD REASONER</a:t>
              </a: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0646181" y="2742073"/>
              <a:ext cx="1379096" cy="403187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0" dirty="0">
                  <a:solidFill>
                    <a:srgbClr val="4E6071"/>
                  </a:solidFill>
                  <a:latin typeface="Aptos"/>
                </a:rPr>
                <a:t>LLM / VLM
planning + reasoning</a:t>
              </a:r>
            </a:p>
          </p:txBody>
        </p:sp>
        <p:cxnSp>
          <p:nvCxnSpPr>
            <p:cNvPr id="241" name="Connector 64"/>
            <p:cNvCxnSpPr>
              <a:stCxn id="232" idx="3"/>
              <a:endCxn id="238" idx="1"/>
            </p:cNvCxnSpPr>
            <p:nvPr/>
          </p:nvCxnSpPr>
          <p:spPr>
            <a:xfrm>
              <a:off x="10391921" y="2897044"/>
              <a:ext cx="219491" cy="0"/>
            </a:xfrm>
            <a:prstGeom prst="line">
              <a:avLst/>
            </a:prstGeom>
            <a:ln w="21590">
              <a:solidFill>
                <a:srgbClr val="2F82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/>
            <p:cNvSpPr txBox="1"/>
            <p:nvPr/>
          </p:nvSpPr>
          <p:spPr>
            <a:xfrm>
              <a:off x="9341866" y="1790981"/>
              <a:ext cx="1244850" cy="38779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F825B"/>
                  </a:solidFill>
                  <a:latin typeface="Aptos"/>
                </a:rPr>
                <a:t>ONLY SANITIZED DATA</a:t>
              </a:r>
            </a:p>
          </p:txBody>
        </p:sp>
        <p:sp>
          <p:nvSpPr>
            <p:cNvPr id="298" name="Isosceles Triangle 297"/>
            <p:cNvSpPr/>
            <p:nvPr/>
          </p:nvSpPr>
          <p:spPr>
            <a:xfrm rot="10800000">
              <a:off x="11333219" y="4042393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10882115" y="4605403"/>
              <a:ext cx="1207195" cy="23312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19" b="1">
                  <a:solidFill>
                    <a:srgbClr val="0C1F35"/>
                  </a:solidFill>
                  <a:latin typeface="Aptos"/>
                </a:rPr>
                <a:t>ACTION PLAN</a:t>
              </a: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955278" y="4846296"/>
              <a:ext cx="1060869" cy="13987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620" b="0">
                  <a:solidFill>
                    <a:srgbClr val="4E6071"/>
                  </a:solidFill>
                  <a:latin typeface="Aptos"/>
                </a:rPr>
                <a:t>tokens + capabilities</a:t>
              </a:r>
            </a:p>
          </p:txBody>
        </p:sp>
        <p:sp>
          <p:nvSpPr>
            <p:cNvPr id="253" name="Rounded Rectangle 252"/>
            <p:cNvSpPr/>
            <p:nvPr/>
          </p:nvSpPr>
          <p:spPr>
            <a:xfrm>
              <a:off x="10867482" y="4582091"/>
              <a:ext cx="1258410" cy="4662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11025949" y="4597163"/>
              <a:ext cx="941476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0C1F35"/>
                  </a:solidFill>
                  <a:latin typeface="Aptos"/>
                </a:rPr>
                <a:t>ACTION PLAN</a:t>
              </a: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10838398" y="4803087"/>
              <a:ext cx="1316579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4E6071"/>
                  </a:solidFill>
                  <a:latin typeface="Aptos"/>
                </a:rPr>
                <a:t>tokens + capabilities</a:t>
              </a:r>
            </a:p>
          </p:txBody>
        </p:sp>
        <p:grpSp>
          <p:nvGrpSpPr>
            <p:cNvPr id="17431" name="Group 17430"/>
            <p:cNvGrpSpPr/>
            <p:nvPr/>
          </p:nvGrpSpPr>
          <p:grpSpPr>
            <a:xfrm>
              <a:off x="8784108" y="4953986"/>
              <a:ext cx="1668124" cy="326371"/>
              <a:chOff x="8893165" y="4282755"/>
              <a:chExt cx="1668124" cy="326371"/>
            </a:xfrm>
          </p:grpSpPr>
          <p:sp>
            <p:nvSpPr>
              <p:cNvPr id="257" name="Rounded Rectangle 256"/>
              <p:cNvSpPr/>
              <p:nvPr/>
            </p:nvSpPr>
            <p:spPr>
              <a:xfrm>
                <a:off x="8893165" y="4282755"/>
                <a:ext cx="1668124" cy="326371"/>
              </a:xfrm>
              <a:prstGeom prst="roundRect">
                <a:avLst/>
              </a:prstGeom>
              <a:solidFill>
                <a:srgbClr val="F4F8FC"/>
              </a:solidFill>
              <a:ln w="13970">
                <a:solidFill>
                  <a:srgbClr val="235B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9000009" y="4336680"/>
                <a:ext cx="1454437" cy="218521"/>
              </a:xfrm>
              <a:prstGeom prst="rect">
                <a:avLst/>
              </a:prstGeom>
              <a:noFill/>
            </p:spPr>
            <p:txBody>
              <a:bodyPr wrap="none" lIns="32004" tIns="32004" rIns="32004" bIns="32004" anchor="ctr">
                <a:spAutoFit/>
              </a:bodyPr>
              <a:lstStyle/>
              <a:p>
                <a:pPr algn="ctr"/>
                <a:r>
                  <a:rPr sz="1000" b="1" dirty="0" smtClean="0">
                    <a:solidFill>
                      <a:srgbClr val="235B96"/>
                    </a:solidFill>
                    <a:latin typeface="Aptos"/>
                  </a:rPr>
                  <a:t>RETURN</a:t>
                </a:r>
                <a:r>
                  <a:rPr lang="en-US" sz="1000" b="1" dirty="0" smtClean="0">
                    <a:solidFill>
                      <a:srgbClr val="235B96"/>
                    </a:solidFill>
                    <a:latin typeface="Aptos"/>
                  </a:rPr>
                  <a:t> TO</a:t>
                </a:r>
                <a:r>
                  <a:rPr sz="1000" b="1" dirty="0" smtClean="0">
                    <a:solidFill>
                      <a:srgbClr val="235B96"/>
                    </a:solidFill>
                    <a:latin typeface="Aptos"/>
                  </a:rPr>
                  <a:t> </a:t>
                </a:r>
                <a:r>
                  <a:rPr sz="1000" b="1" dirty="0">
                    <a:solidFill>
                      <a:srgbClr val="235B96"/>
                    </a:solidFill>
                    <a:latin typeface="Aptos"/>
                  </a:rPr>
                  <a:t>→ LOCAL</a:t>
                </a:r>
              </a:p>
            </p:txBody>
          </p:sp>
        </p:grpSp>
        <p:cxnSp>
          <p:nvCxnSpPr>
            <p:cNvPr id="259" name="Connector 105"/>
            <p:cNvCxnSpPr>
              <a:stCxn id="253" idx="1"/>
              <a:endCxn id="257" idx="3"/>
            </p:cNvCxnSpPr>
            <p:nvPr/>
          </p:nvCxnSpPr>
          <p:spPr>
            <a:xfrm flipH="1">
              <a:off x="10452232" y="4815213"/>
              <a:ext cx="415250" cy="301959"/>
            </a:xfrm>
            <a:prstGeom prst="line">
              <a:avLst/>
            </a:prstGeom>
            <a:ln w="2540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Isosceles Triangle 298"/>
            <p:cNvSpPr/>
            <p:nvPr/>
          </p:nvSpPr>
          <p:spPr>
            <a:xfrm rot="14129887">
              <a:off x="10601210" y="4910021"/>
              <a:ext cx="134773" cy="8793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ounded Rectangle 262"/>
            <p:cNvSpPr/>
            <p:nvPr/>
          </p:nvSpPr>
          <p:spPr>
            <a:xfrm>
              <a:off x="10043335" y="5565961"/>
              <a:ext cx="1617519" cy="637200"/>
            </a:xfrm>
            <a:prstGeom prst="roundRect">
              <a:avLst/>
            </a:prstGeom>
            <a:solidFill>
              <a:srgbClr val="FFF8F1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0124876" y="5627179"/>
              <a:ext cx="1454436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E27922"/>
                  </a:solidFill>
                  <a:latin typeface="Aptos"/>
                </a:rPr>
                <a:t>LOCAL TOKEN VAULT</a:t>
              </a: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0239492" y="5845160"/>
              <a:ext cx="1225207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4E6071"/>
                  </a:solidFill>
                  <a:latin typeface="Aptos"/>
                </a:rPr>
                <a:t>&lt;EMAIL_07&gt; → value</a:t>
              </a: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9387108" y="5908306"/>
              <a:ext cx="426912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4E6071"/>
                  </a:solidFill>
                  <a:latin typeface="Aptos"/>
                </a:rPr>
                <a:t>resolve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3273537" y="2558229"/>
              <a:ext cx="2339295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200" b="1" dirty="0">
                  <a:solidFill>
                    <a:srgbClr val="4E6071"/>
                  </a:solidFill>
                  <a:latin typeface="Aptos"/>
                </a:rPr>
                <a:t>page / UI change → re-evaluate</a:t>
              </a:r>
            </a:p>
          </p:txBody>
        </p:sp>
        <p:sp>
          <p:nvSpPr>
            <p:cNvPr id="261" name="Rounded Rectangle 260"/>
            <p:cNvSpPr/>
            <p:nvPr/>
          </p:nvSpPr>
          <p:spPr>
            <a:xfrm>
              <a:off x="7107955" y="5554546"/>
              <a:ext cx="1507165" cy="497327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7117488" y="5693949"/>
              <a:ext cx="1488100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E27922"/>
                  </a:solidFill>
                  <a:latin typeface="Aptos"/>
                </a:rPr>
                <a:t>ACTION SAFETY GATE</a:t>
              </a:r>
            </a:p>
          </p:txBody>
        </p:sp>
        <p:sp>
          <p:nvSpPr>
            <p:cNvPr id="268" name="Rounded Rectangle 267"/>
            <p:cNvSpPr/>
            <p:nvPr/>
          </p:nvSpPr>
          <p:spPr>
            <a:xfrm>
              <a:off x="5242290" y="5515693"/>
              <a:ext cx="1594961" cy="637200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5375871" y="5542344"/>
              <a:ext cx="1327799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EXECUTION ADAPTER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5320625" y="5748192"/>
              <a:ext cx="648126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2F825B"/>
                  </a:solidFill>
                  <a:latin typeface="Aptos"/>
                </a:rPr>
                <a:t>DOM / A11Y</a:t>
              </a: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6123901" y="5748192"/>
              <a:ext cx="548740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4E6071"/>
                  </a:solidFill>
                  <a:latin typeface="Aptos"/>
                </a:rPr>
                <a:t>WebMCP*</a:t>
              </a: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5458689" y="5911377"/>
              <a:ext cx="401265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4E6071"/>
                  </a:solidFill>
                  <a:latin typeface="Aptos"/>
                </a:rPr>
                <a:t>default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6173697" y="5911377"/>
              <a:ext cx="463781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4E6071"/>
                  </a:solidFill>
                  <a:latin typeface="Aptos"/>
                </a:rPr>
                <a:t>optional</a:t>
              </a:r>
            </a:p>
          </p:txBody>
        </p:sp>
        <p:cxnSp>
          <p:nvCxnSpPr>
            <p:cNvPr id="274" name="Connector 120"/>
            <p:cNvCxnSpPr/>
            <p:nvPr/>
          </p:nvCxnSpPr>
          <p:spPr>
            <a:xfrm flipH="1">
              <a:off x="6837251" y="5803210"/>
              <a:ext cx="270704" cy="0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121"/>
            <p:cNvCxnSpPr/>
            <p:nvPr/>
          </p:nvCxnSpPr>
          <p:spPr>
            <a:xfrm flipH="1">
              <a:off x="4891105" y="5834293"/>
              <a:ext cx="351185" cy="0"/>
            </a:xfrm>
            <a:prstGeom prst="line">
              <a:avLst/>
            </a:prstGeom>
            <a:ln w="1905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ounded Rectangle 275"/>
            <p:cNvSpPr/>
            <p:nvPr/>
          </p:nvSpPr>
          <p:spPr>
            <a:xfrm>
              <a:off x="3669278" y="5593400"/>
              <a:ext cx="1221828" cy="481786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3669278" y="5593400"/>
              <a:ext cx="1221828" cy="48178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19" b="1" dirty="0">
                  <a:solidFill>
                    <a:srgbClr val="235B96"/>
                  </a:solidFill>
                  <a:latin typeface="Aptos"/>
                </a:rPr>
                <a:t>REAL BROWSER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104850" y="5115321"/>
              <a:ext cx="2161361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4E6071"/>
                  </a:solidFill>
                  <a:latin typeface="Aptos"/>
                </a:rPr>
                <a:t>page / UI change → re-evaluate locally</a:t>
              </a:r>
            </a:p>
          </p:txBody>
        </p:sp>
        <p:sp>
          <p:nvSpPr>
            <p:cNvPr id="302" name="Isosceles Triangle 301"/>
            <p:cNvSpPr/>
            <p:nvPr/>
          </p:nvSpPr>
          <p:spPr>
            <a:xfrm rot="16006378">
              <a:off x="6901559" y="5754016"/>
              <a:ext cx="134773" cy="87930"/>
            </a:xfrm>
            <a:prstGeom prst="triangle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Isosceles Triangle 302"/>
            <p:cNvSpPr/>
            <p:nvPr/>
          </p:nvSpPr>
          <p:spPr>
            <a:xfrm rot="16448467">
              <a:off x="5000454" y="5786444"/>
              <a:ext cx="134773" cy="8793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6" name="Connector 59"/>
            <p:cNvCxnSpPr>
              <a:stCxn id="230" idx="3"/>
            </p:cNvCxnSpPr>
            <p:nvPr/>
          </p:nvCxnSpPr>
          <p:spPr>
            <a:xfrm>
              <a:off x="9075317" y="3317742"/>
              <a:ext cx="138673" cy="1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Isosceles Triangle 284"/>
            <p:cNvSpPr/>
            <p:nvPr/>
          </p:nvSpPr>
          <p:spPr>
            <a:xfrm rot="3202444">
              <a:off x="9160348" y="3274371"/>
              <a:ext cx="99969" cy="83871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5" name="Connector 59"/>
            <p:cNvCxnSpPr>
              <a:stCxn id="285" idx="0"/>
              <a:endCxn id="232" idx="1"/>
            </p:cNvCxnSpPr>
            <p:nvPr/>
          </p:nvCxnSpPr>
          <p:spPr>
            <a:xfrm flipV="1">
              <a:off x="9243988" y="2897044"/>
              <a:ext cx="255340" cy="394245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Isosceles Triangle 340"/>
            <p:cNvSpPr/>
            <p:nvPr/>
          </p:nvSpPr>
          <p:spPr>
            <a:xfrm rot="10800000">
              <a:off x="11331898" y="4292819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Isosceles Triangle 341"/>
            <p:cNvSpPr/>
            <p:nvPr/>
          </p:nvSpPr>
          <p:spPr>
            <a:xfrm rot="10800000">
              <a:off x="11333219" y="3810815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6" name="Connector 106"/>
            <p:cNvCxnSpPr>
              <a:stCxn id="263" idx="1"/>
              <a:endCxn id="261" idx="3"/>
            </p:cNvCxnSpPr>
            <p:nvPr/>
          </p:nvCxnSpPr>
          <p:spPr>
            <a:xfrm flipH="1" flipV="1">
              <a:off x="8615120" y="5803210"/>
              <a:ext cx="1428215" cy="81351"/>
            </a:xfrm>
            <a:prstGeom prst="line">
              <a:avLst/>
            </a:prstGeom>
            <a:ln w="15240">
              <a:solidFill>
                <a:srgbClr val="FFC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Isosceles Triangle 300"/>
            <p:cNvSpPr/>
            <p:nvPr/>
          </p:nvSpPr>
          <p:spPr>
            <a:xfrm rot="16465005">
              <a:off x="9537664" y="5817595"/>
              <a:ext cx="125801" cy="93392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0" name="Connector 106"/>
            <p:cNvCxnSpPr>
              <a:stCxn id="257" idx="2"/>
              <a:endCxn id="262" idx="3"/>
            </p:cNvCxnSpPr>
            <p:nvPr/>
          </p:nvCxnSpPr>
          <p:spPr>
            <a:xfrm flipH="1">
              <a:off x="8605588" y="5280357"/>
              <a:ext cx="1012582" cy="522853"/>
            </a:xfrm>
            <a:prstGeom prst="line">
              <a:avLst/>
            </a:prstGeom>
            <a:ln w="15240">
              <a:solidFill>
                <a:srgbClr val="235B9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Isosceles Triangle 299"/>
            <p:cNvSpPr/>
            <p:nvPr/>
          </p:nvSpPr>
          <p:spPr>
            <a:xfrm rot="14577628">
              <a:off x="9065877" y="5478129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792453" y="4051683"/>
              <a:ext cx="4580292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0C1F35"/>
                  </a:solidFill>
                  <a:latin typeface="Aptos"/>
                </a:rPr>
                <a:t>RAW PRIVATE PIXELS + VALUES NEVER CROSS THE BOUNDARY</a:t>
              </a:r>
            </a:p>
          </p:txBody>
        </p:sp>
        <p:cxnSp>
          <p:nvCxnSpPr>
            <p:cNvPr id="398" name="Connector 125"/>
            <p:cNvCxnSpPr/>
            <p:nvPr/>
          </p:nvCxnSpPr>
          <p:spPr>
            <a:xfrm flipH="1">
              <a:off x="3028479" y="2816517"/>
              <a:ext cx="2867114" cy="0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125"/>
            <p:cNvCxnSpPr/>
            <p:nvPr/>
          </p:nvCxnSpPr>
          <p:spPr>
            <a:xfrm flipH="1">
              <a:off x="5906105" y="2550192"/>
              <a:ext cx="278860" cy="260094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Connector 125"/>
            <p:cNvCxnSpPr/>
            <p:nvPr/>
          </p:nvCxnSpPr>
          <p:spPr>
            <a:xfrm flipV="1">
              <a:off x="3056711" y="2816517"/>
              <a:ext cx="11329" cy="3017776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Isosceles Triangle 282"/>
            <p:cNvSpPr/>
            <p:nvPr/>
          </p:nvSpPr>
          <p:spPr>
            <a:xfrm>
              <a:off x="2976719" y="4780099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Isosceles Triangle 408"/>
            <p:cNvSpPr/>
            <p:nvPr/>
          </p:nvSpPr>
          <p:spPr>
            <a:xfrm rot="1880462">
              <a:off x="2985679" y="2733807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Isosceles Triangle 409"/>
            <p:cNvSpPr/>
            <p:nvPr/>
          </p:nvSpPr>
          <p:spPr>
            <a:xfrm rot="5400000">
              <a:off x="4941012" y="2743212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4" name="Rectangle 323"/>
          <p:cNvSpPr/>
          <p:nvPr/>
        </p:nvSpPr>
        <p:spPr>
          <a:xfrm>
            <a:off x="3040431" y="1014718"/>
            <a:ext cx="17149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</a:rPr>
              <a:t>Flow Chart </a:t>
            </a:r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416" name="Rectangle 415"/>
          <p:cNvSpPr>
            <a:spLocks noChangeArrowheads="1"/>
          </p:cNvSpPr>
          <p:nvPr/>
        </p:nvSpPr>
        <p:spPr bwMode="auto">
          <a:xfrm>
            <a:off x="0" y="6502400"/>
            <a:ext cx="12191999" cy="355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7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8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19" name="Picture 4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9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&amp; Viability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0" y="6502400"/>
            <a:ext cx="12191999" cy="355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7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8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40" name="Connector 112"/>
          <p:cNvCxnSpPr/>
          <p:nvPr/>
        </p:nvCxnSpPr>
        <p:spPr>
          <a:xfrm flipH="1">
            <a:off x="-6777" y="3616355"/>
            <a:ext cx="6121610" cy="51223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-6778" y="994815"/>
            <a:ext cx="28642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smtClean="0">
                <a:solidFill>
                  <a:schemeClr val="tx2">
                    <a:lumMod val="75000"/>
                  </a:schemeClr>
                </a:solidFill>
              </a:rPr>
              <a:t>Technical Feasibility :</a:t>
            </a:r>
            <a:endParaRPr lang="en-US" sz="20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" y="1359253"/>
            <a:ext cx="64433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Browser-native execution</a:t>
            </a:r>
            <a:r>
              <a:rPr lang="en-US" dirty="0"/>
              <a:t> — Chrome/Firefox extension with WebGPU + WASM fallback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Lightweight perception</a:t>
            </a:r>
            <a:r>
              <a:rPr lang="en-US" dirty="0"/>
              <a:t> — DOM/A11y first; CV/OCR/VLM invoked only on changed or high-risk regions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Privacy enforcement</a:t>
            </a:r>
            <a:r>
              <a:rPr lang="en-US" dirty="0"/>
              <a:t> — PII/faces detected locally, tokenized/redacted before network egress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Fail-closed security</a:t>
            </a:r>
            <a:r>
              <a:rPr lang="en-US" dirty="0"/>
              <a:t> — No uncertain or unsanitized content leaves the browser.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585916"/>
              </p:ext>
            </p:extLst>
          </p:nvPr>
        </p:nvGraphicFramePr>
        <p:xfrm>
          <a:off x="6114833" y="1110839"/>
          <a:ext cx="6000322" cy="2926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0161">
                  <a:extLst>
                    <a:ext uri="{9D8B030D-6E8A-4147-A177-3AD203B41FA5}">
                      <a16:colId xmlns:a16="http://schemas.microsoft.com/office/drawing/2014/main" val="2095398349"/>
                    </a:ext>
                  </a:extLst>
                </a:gridCol>
                <a:gridCol w="3000161">
                  <a:extLst>
                    <a:ext uri="{9D8B030D-6E8A-4147-A177-3AD203B41FA5}">
                      <a16:colId xmlns:a16="http://schemas.microsoft.com/office/drawing/2014/main" val="4026321532"/>
                    </a:ext>
                  </a:extLst>
                </a:gridCol>
              </a:tblGrid>
              <a:tr h="3524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MITIGATION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48190"/>
                  </a:ext>
                </a:extLst>
              </a:tr>
              <a:tr h="616735"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browser compute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Event-driven + ROI-based inference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405856"/>
                  </a:ext>
                </a:extLst>
              </a:tr>
              <a:tr h="616735">
                <a:tc>
                  <a:txBody>
                    <a:bodyPr/>
                    <a:lstStyle/>
                    <a:p>
                      <a:r>
                        <a:rPr lang="en-US" dirty="0" smtClean="0"/>
                        <a:t>Missed PII / faces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Multi-stage detection + conservative policy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68581"/>
                  </a:ext>
                </a:extLst>
              </a:tr>
              <a:tr h="616735">
                <a:tc>
                  <a:txBody>
                    <a:bodyPr/>
                    <a:lstStyle/>
                    <a:p>
                      <a:r>
                        <a:rPr lang="en-US" dirty="0" smtClean="0"/>
                        <a:t>Latency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Cascade models + cached scene state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728105"/>
                  </a:ext>
                </a:extLst>
              </a:tr>
              <a:tr h="616735">
                <a:tc>
                  <a:txBody>
                    <a:bodyPr/>
                    <a:lstStyle/>
                    <a:p>
                      <a:r>
                        <a:rPr lang="en-US" dirty="0" smtClean="0"/>
                        <a:t>Privacy leakage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Verified egress gate; fail closed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89245"/>
                  </a:ext>
                </a:extLst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" y="3745531"/>
            <a:ext cx="11833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 smtClean="0">
                <a:solidFill>
                  <a:schemeClr val="tx2">
                    <a:lumMod val="75000"/>
                  </a:schemeClr>
                </a:solidFill>
              </a:rPr>
              <a:t>Viability :</a:t>
            </a:r>
            <a:endParaRPr lang="en-US" sz="20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-6778" y="4718350"/>
            <a:ext cx="5994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Uses open-source/open-weight models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Browser-side inference avoids continuous cloud image </a:t>
            </a:r>
            <a:r>
              <a:rPr lang="en-US" dirty="0" smtClean="0"/>
              <a:t>transmission.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Server handles computationally heavy reasoning.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" y="4292600"/>
            <a:ext cx="457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Resource Viability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73915" y="4318240"/>
            <a:ext cx="29081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Scalability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5999" y="4838700"/>
            <a:ext cx="548640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Same privacy layer can work across websites</a:t>
            </a:r>
            <a:r>
              <a:rPr lang="en-US" sz="19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DOM/A11y provides low-cost universal coverage</a:t>
            </a:r>
            <a:r>
              <a:rPr lang="en-US" sz="19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Vision is activated only when required.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&amp;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6502400"/>
            <a:ext cx="12191999" cy="355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bg1"/>
                </a:solidFill>
              </a:rPr>
              <a:t>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115902"/>
              </p:ext>
            </p:extLst>
          </p:nvPr>
        </p:nvGraphicFramePr>
        <p:xfrm>
          <a:off x="113243" y="1119610"/>
          <a:ext cx="4915615" cy="525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080">
                  <a:extLst>
                    <a:ext uri="{9D8B030D-6E8A-4147-A177-3AD203B41FA5}">
                      <a16:colId xmlns:a16="http://schemas.microsoft.com/office/drawing/2014/main" val="3504838109"/>
                    </a:ext>
                  </a:extLst>
                </a:gridCol>
                <a:gridCol w="1705294">
                  <a:extLst>
                    <a:ext uri="{9D8B030D-6E8A-4147-A177-3AD203B41FA5}">
                      <a16:colId xmlns:a16="http://schemas.microsoft.com/office/drawing/2014/main" val="615697177"/>
                    </a:ext>
                  </a:extLst>
                </a:gridCol>
                <a:gridCol w="1755241">
                  <a:extLst>
                    <a:ext uri="{9D8B030D-6E8A-4147-A177-3AD203B41FA5}">
                      <a16:colId xmlns:a16="http://schemas.microsoft.com/office/drawing/2014/main" val="3889316923"/>
                    </a:ext>
                  </a:extLst>
                </a:gridCol>
              </a:tblGrid>
              <a:tr h="60444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Evaluation 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Existing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ANTARDRISHTI</a:t>
                      </a:r>
                    </a:p>
                    <a:p>
                      <a:pPr algn="ctr"/>
                      <a:r>
                        <a:rPr lang="en-US" dirty="0" smtClean="0"/>
                        <a:t>(Enhancement)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587949"/>
                  </a:ext>
                </a:extLst>
              </a:tr>
              <a:tr h="112253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Visual context accuracy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Cloud/desktop GUI agents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Local multimodal scene understanding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73811"/>
                  </a:ext>
                </a:extLst>
              </a:tr>
              <a:tr h="86348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PII precision &amp; recall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WebRedact</a:t>
                      </a:r>
                      <a:r>
                        <a:rPr lang="en-US" dirty="0" smtClean="0"/>
                        <a:t> baseline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Multi-stage local detection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42065"/>
                  </a:ext>
                </a:extLst>
              </a:tr>
              <a:tr h="604441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Redaction precision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Existing visual redactors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Policy-controlled redaction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830025"/>
                  </a:ext>
                </a:extLst>
              </a:tr>
              <a:tr h="86348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Client resource usage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Host/cloud processing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Browser WebGPU/WASM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004851"/>
                  </a:ext>
                </a:extLst>
              </a:tr>
              <a:tr h="100480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E2E latency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Screenshot → cloud → 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Event-driven local →sanitized →cloud→ 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711333"/>
                  </a:ext>
                </a:extLst>
              </a:tr>
            </a:tbl>
          </a:graphicData>
        </a:graphic>
      </p:graphicFrame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182" y="1119610"/>
            <a:ext cx="6773626" cy="521048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&amp; Analysis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25"/>
          <p:cNvCxnSpPr>
            <a:stCxn id="19" idx="0"/>
            <a:endCxn id="16" idx="2"/>
          </p:cNvCxnSpPr>
          <p:nvPr/>
        </p:nvCxnSpPr>
        <p:spPr>
          <a:xfrm flipV="1">
            <a:off x="6096000" y="1017489"/>
            <a:ext cx="3389" cy="5484911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6502400"/>
            <a:ext cx="12191999" cy="355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1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25" name="Connector 125"/>
          <p:cNvCxnSpPr/>
          <p:nvPr/>
        </p:nvCxnSpPr>
        <p:spPr>
          <a:xfrm flipH="1">
            <a:off x="-1" y="3753596"/>
            <a:ext cx="12192000" cy="1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1036022"/>
            <a:ext cx="154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38418"/>
              </p:ext>
            </p:extLst>
          </p:nvPr>
        </p:nvGraphicFramePr>
        <p:xfrm>
          <a:off x="609600" y="3427889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389945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795776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0" y="986102"/>
            <a:ext cx="221464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 PROBLEM &amp; GAP: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600" y="1401600"/>
            <a:ext cx="5829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Raw screenshots expose PII to remote GUI agents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DOM-only perception misses </a:t>
            </a:r>
            <a:r>
              <a:rPr lang="en-US" sz="2000" b="1" dirty="0"/>
              <a:t>canvas, images, video, PDFs, iframes &amp; visual overlays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Privacy protection must preserve </a:t>
            </a:r>
            <a:r>
              <a:rPr lang="en-US" sz="2000" b="1" dirty="0"/>
              <a:t>task-relevant visual context</a:t>
            </a:r>
            <a:r>
              <a:rPr lang="en-US" sz="2000" dirty="0"/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364" y="3032816"/>
            <a:ext cx="548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4"/>
              </a:rPr>
              <a:t>GUIGuard — Privacy-Preserving GUI Agents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6114833" y="985840"/>
            <a:ext cx="247304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Scattered Solutions: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48400" y="1401338"/>
            <a:ext cx="6057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GUIGuard</a:t>
            </a:r>
            <a:r>
              <a:rPr lang="en-US" dirty="0" smtClean="0"/>
              <a:t>: privacy </a:t>
            </a:r>
            <a:r>
              <a:rPr lang="en-US" dirty="0"/>
              <a:t>recognition → protection → task </a:t>
            </a:r>
            <a:r>
              <a:rPr lang="en-US" dirty="0" smtClean="0"/>
              <a:t>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PrivWeb</a:t>
            </a:r>
            <a:r>
              <a:rPr lang="en-US" dirty="0" smtClean="0"/>
              <a:t>: </a:t>
            </a:r>
            <a:r>
              <a:rPr lang="en-US" dirty="0"/>
              <a:t>local LLM-based interface </a:t>
            </a:r>
            <a:r>
              <a:rPr lang="en-US" dirty="0" smtClean="0"/>
              <a:t>anonymization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CAPED</a:t>
            </a:r>
            <a:r>
              <a:rPr lang="en-US" dirty="0" smtClean="0"/>
              <a:t>: </a:t>
            </a:r>
            <a:r>
              <a:rPr lang="en-US" dirty="0"/>
              <a:t>task-aware selective screenshot </a:t>
            </a:r>
            <a:r>
              <a:rPr lang="en-US" dirty="0" smtClean="0"/>
              <a:t>exposure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WebPII</a:t>
            </a:r>
            <a:r>
              <a:rPr lang="en-US" b="1" dirty="0" smtClean="0"/>
              <a:t>/</a:t>
            </a:r>
            <a:r>
              <a:rPr lang="en-US" b="1" dirty="0" err="1" smtClean="0"/>
              <a:t>WebRedact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visual PII detection &amp; redaction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0493" y="3032816"/>
            <a:ext cx="5356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hlinkClick r:id="rId5"/>
              </a:rPr>
              <a:t>PrivWeb</a:t>
            </a:r>
            <a:r>
              <a:rPr lang="en-US" dirty="0">
                <a:hlinkClick r:id="rId5"/>
              </a:rPr>
              <a:t> — CHI </a:t>
            </a:r>
            <a:r>
              <a:rPr lang="en-US" dirty="0" smtClean="0">
                <a:hlinkClick r:id="rId5"/>
              </a:rPr>
              <a:t>2026</a:t>
            </a:r>
            <a:r>
              <a:rPr lang="en-US" dirty="0" smtClean="0"/>
              <a:t> ; </a:t>
            </a:r>
            <a:r>
              <a:rPr lang="en-US" dirty="0" smtClean="0">
                <a:hlinkClick r:id="rId6"/>
              </a:rPr>
              <a:t>CAPED </a:t>
            </a:r>
            <a:r>
              <a:rPr lang="en-US" dirty="0">
                <a:hlinkClick r:id="rId6"/>
              </a:rPr>
              <a:t>— </a:t>
            </a:r>
            <a:r>
              <a:rPr lang="en-US" dirty="0" err="1" smtClean="0">
                <a:hlinkClick r:id="rId6"/>
              </a:rPr>
              <a:t>arXiv</a:t>
            </a:r>
            <a:r>
              <a:rPr lang="en-US" dirty="0" smtClean="0"/>
              <a:t> ; </a:t>
            </a:r>
            <a:r>
              <a:rPr lang="en-US" dirty="0" err="1" smtClean="0">
                <a:hlinkClick r:id="rId7"/>
              </a:rPr>
              <a:t>WebPII</a:t>
            </a:r>
            <a:r>
              <a:rPr lang="en-US" dirty="0" smtClean="0">
                <a:hlinkClick r:id="rId7"/>
              </a:rPr>
              <a:t> </a:t>
            </a:r>
            <a:r>
              <a:rPr lang="en-US" dirty="0">
                <a:hlinkClick r:id="rId7"/>
              </a:rPr>
              <a:t>— </a:t>
            </a:r>
            <a:r>
              <a:rPr lang="en-US" dirty="0" err="1">
                <a:hlinkClick r:id="rId7"/>
              </a:rPr>
              <a:t>arXiv</a:t>
            </a:r>
            <a:endParaRPr lang="en-US" dirty="0"/>
          </a:p>
          <a:p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0" y="3764907"/>
            <a:ext cx="392145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BENCHMARK: (Published results)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1600" y="4180405"/>
            <a:ext cx="5829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WebRedact</a:t>
            </a:r>
            <a:r>
              <a:rPr lang="en-US" b="1" dirty="0"/>
              <a:t>:</a:t>
            </a:r>
            <a:r>
              <a:rPr lang="en-US" dirty="0"/>
              <a:t> 0.753 mAP@50 at ~20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dirty="0" smtClean="0"/>
              <a:t>CPU.</a:t>
            </a:r>
            <a:r>
              <a:rPr lang="en-US" baseline="30000" dirty="0" smtClean="0">
                <a:hlinkClick r:id="rId8"/>
              </a:rPr>
              <a:t>1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CAPED:</a:t>
            </a:r>
            <a:r>
              <a:rPr lang="en-US" dirty="0"/>
              <a:t> seeded leakage reduced </a:t>
            </a:r>
            <a:r>
              <a:rPr lang="en-US" b="1" dirty="0"/>
              <a:t>0.766 → </a:t>
            </a:r>
            <a:r>
              <a:rPr lang="en-US" b="1" dirty="0" smtClean="0"/>
              <a:t>0.268</a:t>
            </a:r>
            <a:r>
              <a:rPr lang="en-US" dirty="0" smtClean="0"/>
              <a:t>.</a:t>
            </a:r>
            <a:r>
              <a:rPr lang="en-US" baseline="30000" dirty="0" smtClean="0">
                <a:hlinkClick r:id="rId6"/>
              </a:rPr>
              <a:t>2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GUIGuard:</a:t>
            </a:r>
            <a:r>
              <a:rPr lang="en-US" dirty="0"/>
              <a:t> privacy recognition remains a major </a:t>
            </a:r>
            <a:r>
              <a:rPr lang="en-US" dirty="0" smtClean="0"/>
              <a:t>bottleneck.</a:t>
            </a:r>
            <a:r>
              <a:rPr lang="en-US" baseline="30000" dirty="0" smtClean="0">
                <a:hlinkClick r:id="rId4"/>
              </a:rPr>
              <a:t>3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Sema</a:t>
            </a:r>
            <a:r>
              <a:rPr lang="en-US" b="1" dirty="0"/>
              <a:t>:</a:t>
            </a:r>
            <a:r>
              <a:rPr lang="en-US" dirty="0"/>
              <a:t> 130–210× lower screenshot uplink, ≤0.7 pp accuracy </a:t>
            </a:r>
            <a:r>
              <a:rPr lang="en-US" dirty="0" smtClean="0"/>
              <a:t>loss.</a:t>
            </a:r>
            <a:r>
              <a:rPr lang="en-US" baseline="30000" dirty="0" smtClean="0">
                <a:hlinkClick r:id="rId9"/>
              </a:rPr>
              <a:t>4</a:t>
            </a:r>
            <a:endParaRPr lang="en-US" baseline="30000" dirty="0"/>
          </a:p>
        </p:txBody>
      </p:sp>
      <p:sp>
        <p:nvSpPr>
          <p:cNvPr id="40" name="TextBox 39"/>
          <p:cNvSpPr txBox="1"/>
          <p:nvPr/>
        </p:nvSpPr>
        <p:spPr>
          <a:xfrm>
            <a:off x="191364" y="5829300"/>
            <a:ext cx="5383936" cy="637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6138353" y="3764907"/>
            <a:ext cx="18004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Our 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Research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44" name="Diagram 43"/>
          <p:cNvGraphicFramePr/>
          <p:nvPr>
            <p:extLst>
              <p:ext uri="{D42A27DB-BD31-4B8C-83A1-F6EECF244321}">
                <p14:modId xmlns:p14="http://schemas.microsoft.com/office/powerpoint/2010/main" val="3103608776"/>
              </p:ext>
            </p:extLst>
          </p:nvPr>
        </p:nvGraphicFramePr>
        <p:xfrm>
          <a:off x="6431722" y="4303387"/>
          <a:ext cx="5239578" cy="2053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10160000" y="5818386"/>
            <a:ext cx="1358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Remote Agent</a:t>
            </a:r>
            <a:endParaRPr lang="en-US" sz="14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802813" y="3806552"/>
            <a:ext cx="376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Browser-native privacy boundary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91364" y="5824560"/>
            <a:ext cx="5739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hlinkClick r:id="rId7"/>
              </a:rPr>
              <a:t>WebPII</a:t>
            </a:r>
            <a:r>
              <a:rPr lang="en-US" dirty="0">
                <a:hlinkClick r:id="rId7"/>
              </a:rPr>
              <a:t> / </a:t>
            </a:r>
            <a:r>
              <a:rPr lang="en-US" dirty="0" err="1">
                <a:hlinkClick r:id="rId7"/>
              </a:rPr>
              <a:t>WebRedact</a:t>
            </a:r>
            <a:r>
              <a:rPr lang="en-US" dirty="0"/>
              <a:t> </a:t>
            </a:r>
            <a:r>
              <a:rPr lang="en-US" dirty="0" smtClean="0"/>
              <a:t>·</a:t>
            </a:r>
            <a:r>
              <a:rPr lang="en-US" dirty="0" smtClean="0">
                <a:hlinkClick r:id="rId6"/>
              </a:rPr>
              <a:t>CAPED</a:t>
            </a:r>
            <a:r>
              <a:rPr lang="en-US" dirty="0" smtClean="0"/>
              <a:t> ·</a:t>
            </a:r>
            <a:r>
              <a:rPr lang="en-US" dirty="0" smtClean="0">
                <a:hlinkClick r:id="rId4"/>
              </a:rPr>
              <a:t>GUIGuard</a:t>
            </a:r>
            <a:r>
              <a:rPr lang="en-US" dirty="0" smtClean="0"/>
              <a:t> ·</a:t>
            </a:r>
            <a:r>
              <a:rPr lang="en-US" dirty="0" err="1" smtClean="0">
                <a:hlinkClick r:id="rId16"/>
              </a:rPr>
              <a:t>Sema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8297</TotalTime>
  <Words>839</Words>
  <Application>Microsoft Office PowerPoint</Application>
  <PresentationFormat>Widescreen</PresentationFormat>
  <Paragraphs>216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Aptos</vt:lpstr>
      <vt:lpstr>Arial</vt:lpstr>
      <vt:lpstr>Calibri</vt:lpstr>
      <vt:lpstr>Garamond</vt:lpstr>
      <vt:lpstr>Roboto</vt:lpstr>
      <vt:lpstr>Roboto Bold</vt:lpstr>
      <vt:lpstr>Times New Roman</vt:lpstr>
      <vt:lpstr>TradeGothic</vt:lpstr>
      <vt:lpstr>Wingdings</vt:lpstr>
      <vt:lpstr>Office Theme</vt:lpstr>
      <vt:lpstr>SMART INDIA HACKATHON 2026</vt:lpstr>
      <vt:lpstr> ANTARDRISHTI</vt:lpstr>
      <vt:lpstr>.</vt:lpstr>
      <vt:lpstr>.</vt:lpstr>
      <vt:lpstr>.</vt:lpstr>
      <vt:lpstr>.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NSPIRA</cp:lastModifiedBy>
  <cp:revision>213</cp:revision>
  <dcterms:created xsi:type="dcterms:W3CDTF">2013-12-12T18:46:50Z</dcterms:created>
  <dcterms:modified xsi:type="dcterms:W3CDTF">2026-09-23T13:37:01Z</dcterms:modified>
  <cp:category/>
</cp:coreProperties>
</file>