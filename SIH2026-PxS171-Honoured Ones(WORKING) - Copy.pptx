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737" autoAdjust="0"/>
  </p:normalViewPr>
  <p:slideViewPr>
    <p:cSldViewPr snapToGrid="0" snapToObjects="1">
      <p:cViewPr>
        <p:scale>
          <a:sx n="75" d="100"/>
          <a:sy n="75" d="100"/>
        </p:scale>
        <p:origin x="516" y="1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ebpii.github.io/?utm_source=chatgpt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rxiv.org/abs/2603.17357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606.12666?utm_source=chatgpt.com" TargetMode="External"/><Relationship Id="rId11" Type="http://schemas.openxmlformats.org/officeDocument/2006/relationships/hyperlink" Target="https://arxiv.org/abs/2604.20940?utm_source=chatgpt.com" TargetMode="External"/><Relationship Id="rId5" Type="http://schemas.openxmlformats.org/officeDocument/2006/relationships/hyperlink" Target="https://doi.org/10.1145/3772318.3790919?utm_source=chatgpt.com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arxiv.org/abs/2601.18842?utm_source=chatgpt.com" TargetMode="External"/><Relationship Id="rId9" Type="http://schemas.openxmlformats.org/officeDocument/2006/relationships/hyperlink" Target="https://www.alphaxiv.org/abs/2604.20940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961573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733714" y="762008"/>
            <a:ext cx="254000" cy="89513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INDIA </a:t>
            </a: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659010"/>
            <a:ext cx="726331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SIH2026171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 Statement Title - On-Device Visual Perception for Light-weight Browser Agent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 - 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Category - 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ID 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Name – The Honoured Ones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37051" y="-216884"/>
            <a:ext cx="11846938" cy="93633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ANTARDRISHTI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H="1">
            <a:off x="4707856" y="6502400"/>
            <a:ext cx="702343" cy="3937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14" y="1500"/>
            <a:ext cx="1979822" cy="93483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-1587" y="969855"/>
            <a:ext cx="12191998" cy="50292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1587" y="963374"/>
            <a:ext cx="10717936" cy="448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62"/>
              </a:lnSpc>
            </a:pPr>
            <a:r>
              <a:rPr lang="en-US" sz="2000" b="1" dirty="0">
                <a:solidFill>
                  <a:srgbClr val="002352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 :  AI AGENTS NEED TO SEE—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Roboto Bold"/>
                <a:ea typeface="Roboto Bold"/>
                <a:cs typeface="Roboto Bold"/>
                <a:sym typeface="Roboto Bold"/>
              </a:rPr>
              <a:t>BUT SHOULD NOT SEE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527" y="1289288"/>
            <a:ext cx="11442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AI browser agents can visually understand </a:t>
            </a:r>
            <a:r>
              <a:rPr lang="en-US" sz="1600" dirty="0" smtClean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and operate our </a:t>
            </a:r>
            <a:r>
              <a:rPr lang="en-US" sz="1600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websites. But raw screen content can contain sensitive information, </a:t>
            </a:r>
            <a:r>
              <a:rPr lang="en-US" sz="1600" dirty="0" smtClean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while DOM-only  </a:t>
            </a:r>
            <a:r>
              <a:rPr lang="en-US" sz="1600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approaches cannot capture everything users actually see.</a:t>
            </a: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6501" y="1857544"/>
            <a:ext cx="3309648" cy="96259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288440" y="2089007"/>
            <a:ext cx="534545" cy="504872"/>
            <a:chOff x="345275" y="2168470"/>
            <a:chExt cx="534545" cy="504872"/>
          </a:xfrm>
        </p:grpSpPr>
        <p:sp>
          <p:nvSpPr>
            <p:cNvPr id="93" name="Freeform 11"/>
            <p:cNvSpPr/>
            <p:nvPr/>
          </p:nvSpPr>
          <p:spPr>
            <a:xfrm>
              <a:off x="345275" y="2168470"/>
              <a:ext cx="534545" cy="504872"/>
            </a:xfrm>
            <a:custGeom>
              <a:avLst/>
              <a:gdLst/>
              <a:ahLst/>
              <a:cxnLst/>
              <a:rect l="l" t="t" r="r" b="b"/>
              <a:pathLst>
                <a:path w="885962" h="874559">
                  <a:moveTo>
                    <a:pt x="0" y="0"/>
                  </a:moveTo>
                  <a:lnTo>
                    <a:pt x="885962" y="0"/>
                  </a:lnTo>
                  <a:lnTo>
                    <a:pt x="885962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94" name="TextBox 12"/>
            <p:cNvSpPr txBox="1"/>
            <p:nvPr/>
          </p:nvSpPr>
          <p:spPr>
            <a:xfrm>
              <a:off x="397421" y="2225624"/>
              <a:ext cx="403833" cy="3590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79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P01</a:t>
              </a:r>
              <a:endParaRPr lang="en-US" sz="16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867095" y="1741502"/>
            <a:ext cx="2268826" cy="427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sz="1600" b="1" dirty="0">
                <a:solidFill>
                  <a:srgbClr val="E40000"/>
                </a:solidFill>
                <a:latin typeface="Roboto Bold"/>
                <a:ea typeface="Roboto Bold"/>
                <a:cs typeface="Roboto Bold"/>
                <a:sym typeface="Roboto Bold"/>
              </a:rPr>
              <a:t>PRIVACY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100" y="2088496"/>
            <a:ext cx="2858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Screens can contain sensitive information such as credentials, financial data, private </a:t>
            </a:r>
            <a:r>
              <a:rPr lang="en-US" sz="1400" dirty="0" smtClean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documents.</a:t>
            </a:r>
            <a:endParaRPr lang="en-US" sz="1400" dirty="0">
              <a:solidFill>
                <a:srgbClr val="002352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lang="en-US" sz="1400" dirty="0"/>
          </a:p>
        </p:txBody>
      </p:sp>
      <p:sp>
        <p:nvSpPr>
          <p:cNvPr id="95" name="Rounded Rectangle 94"/>
          <p:cNvSpPr/>
          <p:nvPr/>
        </p:nvSpPr>
        <p:spPr>
          <a:xfrm>
            <a:off x="3771384" y="1851703"/>
            <a:ext cx="3333265" cy="9492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/>
          <p:cNvGrpSpPr/>
          <p:nvPr/>
        </p:nvGrpSpPr>
        <p:grpSpPr>
          <a:xfrm>
            <a:off x="3782952" y="2068868"/>
            <a:ext cx="731898" cy="559476"/>
            <a:chOff x="3805908" y="2268771"/>
            <a:chExt cx="628977" cy="532163"/>
          </a:xfrm>
        </p:grpSpPr>
        <p:sp>
          <p:nvSpPr>
            <p:cNvPr id="96" name="Freeform 16"/>
            <p:cNvSpPr/>
            <p:nvPr/>
          </p:nvSpPr>
          <p:spPr>
            <a:xfrm>
              <a:off x="3812106" y="2268771"/>
              <a:ext cx="532617" cy="532163"/>
            </a:xfrm>
            <a:custGeom>
              <a:avLst/>
              <a:gdLst/>
              <a:ahLst/>
              <a:cxnLst/>
              <a:rect l="l" t="t" r="r" b="b"/>
              <a:pathLst>
                <a:path w="885962" h="874559">
                  <a:moveTo>
                    <a:pt x="0" y="0"/>
                  </a:moveTo>
                  <a:lnTo>
                    <a:pt x="885962" y="0"/>
                  </a:lnTo>
                  <a:lnTo>
                    <a:pt x="885962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1" name="Rectangle 20"/>
            <p:cNvSpPr/>
            <p:nvPr/>
          </p:nvSpPr>
          <p:spPr>
            <a:xfrm>
              <a:off x="3805908" y="2297929"/>
              <a:ext cx="628977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2790"/>
                </a:lnSpc>
              </a:pPr>
              <a:r>
                <a:rPr lang="en-US" b="1" dirty="0" smtClean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P02</a:t>
              </a:r>
              <a:endParaRPr lang="en-US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4392170" y="1761367"/>
            <a:ext cx="2365840" cy="427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sz="1600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VISUAL BLIND SPOTS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60797" y="2092963"/>
            <a:ext cx="293758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DOM-only agents can miss canvas, images, PDFs, visual overlays, and rendered content.</a:t>
            </a:r>
          </a:p>
          <a:p>
            <a:endParaRPr lang="en-US" sz="1400" dirty="0"/>
          </a:p>
        </p:txBody>
      </p:sp>
      <p:sp>
        <p:nvSpPr>
          <p:cNvPr id="99" name="Rounded Rectangle 98"/>
          <p:cNvSpPr/>
          <p:nvPr/>
        </p:nvSpPr>
        <p:spPr>
          <a:xfrm>
            <a:off x="7377359" y="1857544"/>
            <a:ext cx="4652577" cy="9433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/>
          <p:cNvGrpSpPr/>
          <p:nvPr/>
        </p:nvGrpSpPr>
        <p:grpSpPr>
          <a:xfrm>
            <a:off x="7397462" y="2076818"/>
            <a:ext cx="606417" cy="529250"/>
            <a:chOff x="7397462" y="2271685"/>
            <a:chExt cx="606417" cy="529250"/>
          </a:xfrm>
        </p:grpSpPr>
        <p:sp>
          <p:nvSpPr>
            <p:cNvPr id="100" name="Freeform 21"/>
            <p:cNvSpPr/>
            <p:nvPr/>
          </p:nvSpPr>
          <p:spPr>
            <a:xfrm>
              <a:off x="7397462" y="2271685"/>
              <a:ext cx="565367" cy="529250"/>
            </a:xfrm>
            <a:custGeom>
              <a:avLst/>
              <a:gdLst/>
              <a:ahLst/>
              <a:cxnLst/>
              <a:rect l="l" t="t" r="r" b="b"/>
              <a:pathLst>
                <a:path w="875024" h="874559">
                  <a:moveTo>
                    <a:pt x="0" y="0"/>
                  </a:moveTo>
                  <a:lnTo>
                    <a:pt x="875024" y="0"/>
                  </a:lnTo>
                  <a:lnTo>
                    <a:pt x="875024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8" name="Rectangle 97"/>
            <p:cNvSpPr/>
            <p:nvPr/>
          </p:nvSpPr>
          <p:spPr>
            <a:xfrm>
              <a:off x="7408843" y="2296618"/>
              <a:ext cx="595036" cy="4142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ts val="2790"/>
                </a:lnSpc>
              </a:pPr>
              <a:r>
                <a:rPr lang="en-US" b="1" dirty="0" smtClean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P03</a:t>
              </a:r>
              <a:endParaRPr lang="en-US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</p:txBody>
        </p:sp>
      </p:grpSp>
      <p:sp>
        <p:nvSpPr>
          <p:cNvPr id="101" name="Rectangle 100"/>
          <p:cNvSpPr/>
          <p:nvPr/>
        </p:nvSpPr>
        <p:spPr>
          <a:xfrm>
            <a:off x="7919164" y="1753587"/>
            <a:ext cx="389189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sz="1600" b="1" dirty="0" smtClean="0">
                <a:solidFill>
                  <a:srgbClr val="008037"/>
                </a:solidFill>
                <a:latin typeface="Roboto Bold"/>
                <a:ea typeface="Roboto Bold"/>
                <a:cs typeface="Roboto Bold"/>
                <a:sym typeface="Roboto Bold"/>
              </a:rPr>
              <a:t>THE LOCAL REASONING TRADE-OFF</a:t>
            </a:r>
            <a:endParaRPr lang="en-US" sz="1600" b="1" dirty="0">
              <a:solidFill>
                <a:srgbClr val="008037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04" name="Freeform 25"/>
          <p:cNvSpPr/>
          <p:nvPr/>
        </p:nvSpPr>
        <p:spPr>
          <a:xfrm>
            <a:off x="43317" y="2942645"/>
            <a:ext cx="3894467" cy="3953456"/>
          </a:xfrm>
          <a:custGeom>
            <a:avLst/>
            <a:gdLst/>
            <a:ahLst/>
            <a:cxnLst/>
            <a:rect l="l" t="t" r="r" b="b"/>
            <a:pathLst>
              <a:path w="17653608" h="1727254">
                <a:moveTo>
                  <a:pt x="0" y="0"/>
                </a:moveTo>
                <a:lnTo>
                  <a:pt x="17653608" y="0"/>
                </a:lnTo>
                <a:lnTo>
                  <a:pt x="1765360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6" name="TextBox 105"/>
          <p:cNvSpPr txBox="1"/>
          <p:nvPr/>
        </p:nvSpPr>
        <p:spPr>
          <a:xfrm>
            <a:off x="7955890" y="2062500"/>
            <a:ext cx="41990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Full visual reasoning on constrained devices can be computationally expensive, while sending raw visual content to remote AI creates privacy risk.</a:t>
            </a:r>
          </a:p>
          <a:p>
            <a:endParaRPr lang="en-US" sz="1400" dirty="0"/>
          </a:p>
        </p:txBody>
      </p:sp>
      <p:pic>
        <p:nvPicPr>
          <p:cNvPr id="107" name="Picture 106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09" b="95122" l="7750" r="94063">
                        <a14:foregroundMark x1="48063" y1="64329" x2="48063" y2="64329"/>
                        <a14:foregroundMark x1="13063" y1="76220" x2="13063" y2="76220"/>
                        <a14:foregroundMark x1="18813" y1="80030" x2="18813" y2="80030"/>
                        <a14:foregroundMark x1="28625" y1="77896" x2="28625" y2="77896"/>
                        <a14:foregroundMark x1="34188" y1="82012" x2="34188" y2="82012"/>
                        <a14:foregroundMark x1="41438" y1="79573" x2="41438" y2="79573"/>
                        <a14:foregroundMark x1="49688" y1="82317" x2="49688" y2="82317"/>
                        <a14:foregroundMark x1="58375" y1="82012" x2="58375" y2="82012"/>
                        <a14:foregroundMark x1="65625" y1="83079" x2="65625" y2="83079"/>
                        <a14:foregroundMark x1="69563" y1="80030" x2="69563" y2="80030"/>
                        <a14:foregroundMark x1="76125" y1="80335" x2="76125" y2="80335"/>
                        <a14:foregroundMark x1="86063" y1="79268" x2="86063" y2="79268"/>
                        <a14:foregroundMark x1="91813" y1="79268" x2="91813" y2="792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20" y="2905247"/>
            <a:ext cx="2311460" cy="947699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128298" y="3824771"/>
            <a:ext cx="37464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 browser-native privacy firewall that combines: </a:t>
            </a:r>
          </a:p>
          <a:p>
            <a:pPr algn="ctr"/>
            <a:r>
              <a:rPr lang="en-US" dirty="0" smtClean="0"/>
              <a:t>screen + DOM + ARIA perception,</a:t>
            </a:r>
          </a:p>
          <a:p>
            <a:pPr algn="ctr"/>
            <a:r>
              <a:rPr lang="en-US" dirty="0"/>
              <a:t>Detects sensitive content locally, redacts/tokenizes it while preserving task-relevant context</a:t>
            </a:r>
            <a:r>
              <a:rPr lang="en-US" dirty="0" smtClean="0"/>
              <a:t>, and exposes only sanitized context to remote AI reasoning, while having  guardrails and egress gate</a:t>
            </a:r>
          </a:p>
          <a:p>
            <a:pPr algn="ctr"/>
            <a:r>
              <a:rPr lang="en-US" dirty="0" smtClean="0"/>
              <a:t>for Data leak protection. </a:t>
            </a:r>
            <a:endParaRPr lang="en-US" dirty="0"/>
          </a:p>
        </p:txBody>
      </p:sp>
      <p:sp>
        <p:nvSpPr>
          <p:cNvPr id="15370" name="Rectangle 15369"/>
          <p:cNvSpPr/>
          <p:nvPr/>
        </p:nvSpPr>
        <p:spPr>
          <a:xfrm>
            <a:off x="5575090" y="4090670"/>
            <a:ext cx="2061783" cy="4234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219"/>
              </a:lnSpc>
            </a:pPr>
            <a:r>
              <a:rPr lang="en-US" sz="8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DESIGNED AROUND GIVEN CRITERIA</a:t>
            </a: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071" y="3108961"/>
            <a:ext cx="7976865" cy="34168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843537" y="6526769"/>
            <a:ext cx="311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2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rot="12246768" flipV="1">
            <a:off x="4656566" y="6693025"/>
            <a:ext cx="474382" cy="16346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Footer Placeholder 6"/>
          <p:cNvSpPr txBox="1">
            <a:spLocks/>
          </p:cNvSpPr>
          <p:nvPr/>
        </p:nvSpPr>
        <p:spPr>
          <a:xfrm flipH="1">
            <a:off x="4716222" y="7002532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29078" y="515215"/>
            <a:ext cx="390026" cy="390144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779" y="957352"/>
            <a:ext cx="12191998" cy="50292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 rot="5400000">
            <a:off x="6777" y="3909964"/>
            <a:ext cx="5850356" cy="45719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-1784" y="983619"/>
            <a:ext cx="1366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smtClean="0">
                <a:solidFill>
                  <a:schemeClr val="tx2">
                    <a:lumMod val="75000"/>
                  </a:schemeClr>
                </a:solidFill>
              </a:rPr>
              <a:t>SOFTWARE :</a:t>
            </a:r>
            <a:endParaRPr lang="en-US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-18514" y="1233365"/>
            <a:ext cx="2958813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Chrome &amp; Firefox Web Extension(MV3)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JavaScript / TypeScript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ONNX Runtime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WebGPU + WASM Fallback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DOM + Reconstructed ARIA semantics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Local Privacy + Token Vault + Policy </a:t>
            </a:r>
            <a:r>
              <a:rPr lang="en-US" sz="1500" dirty="0" smtClean="0"/>
              <a:t>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Remote Planner / LLM-VLM endpoint</a:t>
            </a:r>
          </a:p>
        </p:txBody>
      </p:sp>
      <p:cxnSp>
        <p:nvCxnSpPr>
          <p:cNvPr id="27" name="Connector 112"/>
          <p:cNvCxnSpPr/>
          <p:nvPr/>
        </p:nvCxnSpPr>
        <p:spPr>
          <a:xfrm flipH="1">
            <a:off x="-1784" y="3824396"/>
            <a:ext cx="291750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-79755" y="3790060"/>
            <a:ext cx="21130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smtClean="0">
                <a:solidFill>
                  <a:schemeClr val="tx2"/>
                </a:solidFill>
              </a:rPr>
              <a:t>LOCAL PERCEPTION:</a:t>
            </a:r>
            <a:endParaRPr lang="en-US" b="1" u="sng" dirty="0">
              <a:solidFill>
                <a:schemeClr val="tx2"/>
              </a:solidFill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4313840" y="6633479"/>
            <a:ext cx="3483839" cy="233910"/>
          </a:xfrm>
          <a:prstGeom prst="rect">
            <a:avLst/>
          </a:prstGeom>
          <a:noFill/>
        </p:spPr>
        <p:txBody>
          <a:bodyPr wrap="none" lIns="32004" tIns="32004" rIns="32004" bIns="32004" anchor="ctr">
            <a:spAutoFit/>
          </a:bodyPr>
          <a:lstStyle/>
          <a:p>
            <a:pPr algn="ctr"/>
            <a:r>
              <a:rPr sz="1100" b="1" dirty="0">
                <a:solidFill>
                  <a:srgbClr val="4E6071"/>
                </a:solidFill>
                <a:latin typeface="Aptos"/>
              </a:rPr>
              <a:t>DOM/A11y = universal path   •   WebMCP = optional</a:t>
            </a:r>
          </a:p>
        </p:txBody>
      </p:sp>
      <p:grpSp>
        <p:nvGrpSpPr>
          <p:cNvPr id="328" name="Group 327"/>
          <p:cNvGrpSpPr/>
          <p:nvPr/>
        </p:nvGrpSpPr>
        <p:grpSpPr>
          <a:xfrm>
            <a:off x="2979825" y="1885680"/>
            <a:ext cx="9178258" cy="4720788"/>
            <a:chOff x="2976719" y="1482373"/>
            <a:chExt cx="9178258" cy="4720788"/>
          </a:xfrm>
        </p:grpSpPr>
        <p:sp>
          <p:nvSpPr>
            <p:cNvPr id="181" name="TextBox 180"/>
            <p:cNvSpPr txBox="1"/>
            <p:nvPr/>
          </p:nvSpPr>
          <p:spPr>
            <a:xfrm>
              <a:off x="10643432" y="1779706"/>
              <a:ext cx="1362064" cy="387798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235B96"/>
                  </a:solidFill>
                  <a:latin typeface="Aptos"/>
                </a:rPr>
                <a:t>REMOTE REASONING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3247477" y="1482373"/>
              <a:ext cx="2483821" cy="249299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l"/>
              <a:r>
                <a:rPr sz="1200" b="1" dirty="0">
                  <a:solidFill>
                    <a:srgbClr val="235B96"/>
                  </a:solidFill>
                  <a:latin typeface="Aptos"/>
                </a:rPr>
                <a:t>LOCAL PERCEPTION + PRIVACY</a:t>
              </a: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9297678" y="2474603"/>
              <a:ext cx="1170614" cy="155415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20" b="1">
                  <a:solidFill>
                    <a:srgbClr val="BE4242"/>
                  </a:solidFill>
                  <a:latin typeface="Aptos"/>
                </a:rPr>
                <a:t>NO RAW PII</a:t>
              </a:r>
            </a:p>
          </p:txBody>
        </p:sp>
        <p:cxnSp>
          <p:nvCxnSpPr>
            <p:cNvPr id="248" name="Connector 72"/>
            <p:cNvCxnSpPr/>
            <p:nvPr/>
          </p:nvCxnSpPr>
          <p:spPr>
            <a:xfrm>
              <a:off x="11423664" y="3619722"/>
              <a:ext cx="0" cy="994515"/>
            </a:xfrm>
            <a:prstGeom prst="line">
              <a:avLst/>
            </a:prstGeom>
            <a:ln w="1524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/>
            <p:cNvSpPr txBox="1"/>
            <p:nvPr/>
          </p:nvSpPr>
          <p:spPr>
            <a:xfrm>
              <a:off x="5301664" y="4687771"/>
              <a:ext cx="4316710" cy="195438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r>
                <a:rPr sz="850" b="1" dirty="0" smtClean="0">
                  <a:solidFill>
                    <a:srgbClr val="235B96"/>
                  </a:solidFill>
                  <a:latin typeface="Aptos"/>
                </a:rPr>
                <a:t>7</a:t>
              </a:r>
              <a:r>
                <a:rPr lang="en-US" sz="850" b="1" dirty="0" smtClean="0">
                  <a:solidFill>
                    <a:srgbClr val="235B96"/>
                  </a:solidFill>
                  <a:latin typeface="Aptos"/>
                </a:rPr>
                <a:t>.</a:t>
              </a:r>
              <a:r>
                <a:rPr sz="850" b="1" dirty="0" smtClean="0">
                  <a:solidFill>
                    <a:srgbClr val="235B96"/>
                  </a:solidFill>
                  <a:latin typeface="Aptos"/>
                </a:rPr>
                <a:t>  REMOTE PLAN RETURNS </a:t>
              </a:r>
              <a:r>
                <a:rPr lang="en-US" sz="850" b="1" dirty="0">
                  <a:solidFill>
                    <a:srgbClr val="235B96"/>
                  </a:solidFill>
                  <a:latin typeface="Aptos"/>
                </a:rPr>
                <a:t>→</a:t>
              </a:r>
              <a:r>
                <a:rPr sz="850" b="1" dirty="0" smtClean="0">
                  <a:solidFill>
                    <a:srgbClr val="235B96"/>
                  </a:solidFill>
                  <a:latin typeface="Aptos"/>
                </a:rPr>
                <a:t>  </a:t>
              </a:r>
              <a:r>
                <a:rPr sz="850" b="1" dirty="0">
                  <a:solidFill>
                    <a:srgbClr val="235B96"/>
                  </a:solidFill>
                  <a:latin typeface="Aptos"/>
                </a:rPr>
                <a:t>LOCAL POLICY CHECK  →  LOCAL EXECUTION</a:t>
              </a:r>
            </a:p>
          </p:txBody>
        </p:sp>
        <p:cxnSp>
          <p:nvCxnSpPr>
            <p:cNvPr id="256" name="Connector 102"/>
            <p:cNvCxnSpPr/>
            <p:nvPr/>
          </p:nvCxnSpPr>
          <p:spPr>
            <a:xfrm>
              <a:off x="11364991" y="3595897"/>
              <a:ext cx="0" cy="986194"/>
            </a:xfrm>
            <a:prstGeom prst="line">
              <a:avLst/>
            </a:prstGeom>
            <a:ln w="1524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/>
            <p:cNvSpPr/>
            <p:nvPr/>
          </p:nvSpPr>
          <p:spPr>
            <a:xfrm>
              <a:off x="5868741" y="3845663"/>
              <a:ext cx="83359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fld id="{677C3CE7-23F7-4828-823C-E0205DF2CF97}" type="slidenum">
                <a:rPr lang="en-US" b="1">
                  <a:solidFill>
                    <a:schemeClr val="bg1"/>
                  </a:solidFill>
                </a:rPr>
                <a:pPr/>
                <a:t>3</a:t>
              </a:fld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3104850" y="1748054"/>
              <a:ext cx="6109140" cy="2797464"/>
            </a:xfrm>
            <a:prstGeom prst="roundRect">
              <a:avLst/>
            </a:prstGeom>
            <a:solidFill>
              <a:srgbClr val="FBFCFE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3273126" y="1817559"/>
              <a:ext cx="2267159" cy="22621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l"/>
              <a:r>
                <a:rPr sz="1050" b="1" dirty="0">
                  <a:solidFill>
                    <a:srgbClr val="0C1F35"/>
                  </a:solidFill>
                  <a:latin typeface="Aptos"/>
                </a:rPr>
                <a:t>ON-DEVICE PRIVACY BOUNDARY</a:t>
              </a:r>
            </a:p>
          </p:txBody>
        </p:sp>
        <p:sp>
          <p:nvSpPr>
            <p:cNvPr id="184" name="Oval 183"/>
            <p:cNvSpPr/>
            <p:nvPr/>
          </p:nvSpPr>
          <p:spPr>
            <a:xfrm>
              <a:off x="3273126" y="2159903"/>
              <a:ext cx="175592" cy="186498"/>
            </a:xfrm>
            <a:prstGeom prst="ellipse">
              <a:avLst/>
            </a:prstGeom>
            <a:solidFill>
              <a:srgbClr val="235B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3273126" y="2159903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1</a:t>
              </a:r>
            </a:p>
          </p:txBody>
        </p:sp>
        <p:sp>
          <p:nvSpPr>
            <p:cNvPr id="186" name="Rounded Rectangle 185"/>
            <p:cNvSpPr/>
            <p:nvPr/>
          </p:nvSpPr>
          <p:spPr>
            <a:xfrm>
              <a:off x="3507249" y="2128820"/>
              <a:ext cx="731634" cy="35745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3706097" y="2205980"/>
              <a:ext cx="333938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 smtClean="0">
                  <a:solidFill>
                    <a:srgbClr val="0C1F35"/>
                  </a:solidFill>
                  <a:latin typeface="Aptos"/>
                </a:rPr>
                <a:t>DOM</a:t>
              </a:r>
              <a:endParaRPr sz="900" b="1" dirty="0">
                <a:solidFill>
                  <a:srgbClr val="0C1F35"/>
                </a:solidFill>
                <a:latin typeface="Aptos"/>
              </a:endParaRPr>
            </a:p>
          </p:txBody>
        </p:sp>
        <p:sp>
          <p:nvSpPr>
            <p:cNvPr id="188" name="Rounded Rectangle 187"/>
            <p:cNvSpPr/>
            <p:nvPr/>
          </p:nvSpPr>
          <p:spPr>
            <a:xfrm>
              <a:off x="4348627" y="2128820"/>
              <a:ext cx="731634" cy="35745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4537857" y="2205980"/>
              <a:ext cx="353174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A11Y</a:t>
              </a:r>
            </a:p>
          </p:txBody>
        </p:sp>
        <p:sp>
          <p:nvSpPr>
            <p:cNvPr id="190" name="Rounded Rectangle 189"/>
            <p:cNvSpPr/>
            <p:nvPr/>
          </p:nvSpPr>
          <p:spPr>
            <a:xfrm>
              <a:off x="5190006" y="2128820"/>
              <a:ext cx="731634" cy="35745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5283056" y="2205980"/>
              <a:ext cx="545534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SCREEN</a:t>
              </a:r>
            </a:p>
          </p:txBody>
        </p:sp>
        <p:sp>
          <p:nvSpPr>
            <p:cNvPr id="192" name="Rounded Rectangle 191"/>
            <p:cNvSpPr/>
            <p:nvPr/>
          </p:nvSpPr>
          <p:spPr>
            <a:xfrm>
              <a:off x="6177711" y="2035571"/>
              <a:ext cx="1155981" cy="543951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6261720" y="2054566"/>
              <a:ext cx="987963" cy="22621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235B96"/>
                  </a:solidFill>
                  <a:latin typeface="Aptos"/>
                </a:rPr>
                <a:t>EVENT + RISK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6438851" y="2279917"/>
              <a:ext cx="633700" cy="22621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235B96"/>
                  </a:solidFill>
                  <a:latin typeface="Aptos"/>
                </a:rPr>
                <a:t>ROUTER</a:t>
              </a:r>
            </a:p>
          </p:txBody>
        </p:sp>
        <p:cxnSp>
          <p:nvCxnSpPr>
            <p:cNvPr id="195" name="Connector 18"/>
            <p:cNvCxnSpPr>
              <a:endCxn id="286" idx="0"/>
            </p:cNvCxnSpPr>
            <p:nvPr/>
          </p:nvCxnSpPr>
          <p:spPr>
            <a:xfrm flipV="1">
              <a:off x="4238882" y="2306454"/>
              <a:ext cx="87797" cy="1093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ctor 19"/>
            <p:cNvCxnSpPr>
              <a:stCxn id="190" idx="3"/>
            </p:cNvCxnSpPr>
            <p:nvPr/>
          </p:nvCxnSpPr>
          <p:spPr>
            <a:xfrm>
              <a:off x="5921640" y="2307547"/>
              <a:ext cx="256072" cy="0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or 20"/>
            <p:cNvCxnSpPr/>
            <p:nvPr/>
          </p:nvCxnSpPr>
          <p:spPr>
            <a:xfrm>
              <a:off x="5921640" y="2307547"/>
              <a:ext cx="256072" cy="0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Oval 197"/>
            <p:cNvSpPr/>
            <p:nvPr/>
          </p:nvSpPr>
          <p:spPr>
            <a:xfrm>
              <a:off x="7399539" y="1911239"/>
              <a:ext cx="175592" cy="186498"/>
            </a:xfrm>
            <a:prstGeom prst="ellipse">
              <a:avLst/>
            </a:prstGeom>
            <a:solidFill>
              <a:srgbClr val="235B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7399539" y="191123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2</a:t>
              </a:r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7619030" y="1988947"/>
              <a:ext cx="1060869" cy="264205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7645064" y="2027177"/>
              <a:ext cx="1008801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0C1F35"/>
                  </a:solidFill>
                  <a:latin typeface="Aptos"/>
                </a:rPr>
                <a:t>LOW  • DOM / A11Y</a:t>
              </a:r>
            </a:p>
          </p:txBody>
        </p:sp>
        <p:cxnSp>
          <p:nvCxnSpPr>
            <p:cNvPr id="202" name="Connector 25"/>
            <p:cNvCxnSpPr/>
            <p:nvPr/>
          </p:nvCxnSpPr>
          <p:spPr>
            <a:xfrm flipV="1">
              <a:off x="7333692" y="2121049"/>
              <a:ext cx="285337" cy="186498"/>
            </a:xfrm>
            <a:prstGeom prst="line">
              <a:avLst/>
            </a:prstGeom>
            <a:ln w="1143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ounded Rectangle 202"/>
            <p:cNvSpPr/>
            <p:nvPr/>
          </p:nvSpPr>
          <p:spPr>
            <a:xfrm>
              <a:off x="7619030" y="2354171"/>
              <a:ext cx="1060869" cy="264205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7646666" y="2384707"/>
              <a:ext cx="1005596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MED  • OCR + CV</a:t>
              </a:r>
            </a:p>
          </p:txBody>
        </p:sp>
        <p:cxnSp>
          <p:nvCxnSpPr>
            <p:cNvPr id="205" name="Connector 28"/>
            <p:cNvCxnSpPr/>
            <p:nvPr/>
          </p:nvCxnSpPr>
          <p:spPr>
            <a:xfrm>
              <a:off x="7333692" y="2307547"/>
              <a:ext cx="285337" cy="178727"/>
            </a:xfrm>
            <a:prstGeom prst="line">
              <a:avLst/>
            </a:prstGeom>
            <a:ln w="1143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Rounded Rectangle 205"/>
            <p:cNvSpPr/>
            <p:nvPr/>
          </p:nvSpPr>
          <p:spPr>
            <a:xfrm>
              <a:off x="7619030" y="2719396"/>
              <a:ext cx="1060869" cy="264205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7798951" y="2749932"/>
              <a:ext cx="701026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HIGH </a:t>
              </a:r>
              <a:r>
                <a:rPr sz="900" b="1" dirty="0" smtClean="0">
                  <a:solidFill>
                    <a:srgbClr val="0C1F35"/>
                  </a:solidFill>
                  <a:latin typeface="Aptos"/>
                </a:rPr>
                <a:t>• </a:t>
              </a:r>
              <a:r>
                <a:rPr sz="900" b="1" dirty="0">
                  <a:solidFill>
                    <a:srgbClr val="0C1F35"/>
                  </a:solidFill>
                  <a:latin typeface="Aptos"/>
                </a:rPr>
                <a:t>VLM</a:t>
              </a:r>
            </a:p>
          </p:txBody>
        </p:sp>
        <p:cxnSp>
          <p:nvCxnSpPr>
            <p:cNvPr id="208" name="Connector 31"/>
            <p:cNvCxnSpPr/>
            <p:nvPr/>
          </p:nvCxnSpPr>
          <p:spPr>
            <a:xfrm>
              <a:off x="7333692" y="2307547"/>
              <a:ext cx="285337" cy="543951"/>
            </a:xfrm>
            <a:prstGeom prst="line">
              <a:avLst/>
            </a:prstGeom>
            <a:ln w="1143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Oval 208"/>
            <p:cNvSpPr/>
            <p:nvPr/>
          </p:nvSpPr>
          <p:spPr>
            <a:xfrm>
              <a:off x="3448718" y="2960289"/>
              <a:ext cx="175592" cy="186498"/>
            </a:xfrm>
            <a:prstGeom prst="ellipse">
              <a:avLst/>
            </a:prstGeom>
            <a:solidFill>
              <a:srgbClr val="1C7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3448718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3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3668208" y="3084620"/>
              <a:ext cx="1843717" cy="466244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1C7A8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3736210" y="3200787"/>
              <a:ext cx="1707712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1C7A84"/>
                  </a:solidFill>
                  <a:latin typeface="Aptos"/>
                </a:rPr>
                <a:t>UNIFIED SCENE GRAPH</a:t>
              </a:r>
            </a:p>
          </p:txBody>
        </p:sp>
        <p:cxnSp>
          <p:nvCxnSpPr>
            <p:cNvPr id="213" name="Connector 36"/>
            <p:cNvCxnSpPr/>
            <p:nvPr/>
          </p:nvCxnSpPr>
          <p:spPr>
            <a:xfrm flipH="1">
              <a:off x="5511925" y="2253152"/>
              <a:ext cx="2107105" cy="1064591"/>
            </a:xfrm>
            <a:prstGeom prst="line">
              <a:avLst/>
            </a:prstGeom>
            <a:ln w="11430">
              <a:solidFill>
                <a:srgbClr val="1C7A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ctor 37"/>
            <p:cNvCxnSpPr/>
            <p:nvPr/>
          </p:nvCxnSpPr>
          <p:spPr>
            <a:xfrm flipH="1">
              <a:off x="5511925" y="2618376"/>
              <a:ext cx="2107105" cy="699366"/>
            </a:xfrm>
            <a:prstGeom prst="line">
              <a:avLst/>
            </a:prstGeom>
            <a:ln w="11430">
              <a:solidFill>
                <a:srgbClr val="1C7A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ctor 38"/>
            <p:cNvCxnSpPr>
              <a:stCxn id="206" idx="1"/>
            </p:cNvCxnSpPr>
            <p:nvPr/>
          </p:nvCxnSpPr>
          <p:spPr>
            <a:xfrm flipH="1">
              <a:off x="5511927" y="2851499"/>
              <a:ext cx="2107103" cy="466243"/>
            </a:xfrm>
            <a:prstGeom prst="line">
              <a:avLst/>
            </a:prstGeom>
            <a:ln w="11430">
              <a:solidFill>
                <a:srgbClr val="1C7A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Oval 215"/>
            <p:cNvSpPr/>
            <p:nvPr/>
          </p:nvSpPr>
          <p:spPr>
            <a:xfrm>
              <a:off x="5702149" y="2960289"/>
              <a:ext cx="175592" cy="186498"/>
            </a:xfrm>
            <a:prstGeom prst="ellipse">
              <a:avLst/>
            </a:prstGeom>
            <a:solidFill>
              <a:srgbClr val="E279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5702149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4</a:t>
              </a:r>
            </a:p>
          </p:txBody>
        </p:sp>
        <p:sp>
          <p:nvSpPr>
            <p:cNvPr id="218" name="Rounded Rectangle 217"/>
            <p:cNvSpPr/>
            <p:nvPr/>
          </p:nvSpPr>
          <p:spPr>
            <a:xfrm>
              <a:off x="5760679" y="3084620"/>
              <a:ext cx="1353522" cy="466244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5799989" y="3200787"/>
              <a:ext cx="1274901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E27922"/>
                  </a:solidFill>
                  <a:latin typeface="Aptos"/>
                </a:rPr>
                <a:t>PRIVACY ENGINE</a:t>
              </a: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5797585" y="3519387"/>
              <a:ext cx="1279709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0" dirty="0">
                  <a:solidFill>
                    <a:srgbClr val="4E6071"/>
                  </a:solidFill>
                  <a:latin typeface="Aptos"/>
                </a:rPr>
                <a:t>PII • faces • secrets</a:t>
              </a:r>
            </a:p>
          </p:txBody>
        </p:sp>
        <p:cxnSp>
          <p:nvCxnSpPr>
            <p:cNvPr id="221" name="Connector 44"/>
            <p:cNvCxnSpPr/>
            <p:nvPr/>
          </p:nvCxnSpPr>
          <p:spPr>
            <a:xfrm>
              <a:off x="5511925" y="3317742"/>
              <a:ext cx="248755" cy="0"/>
            </a:xfrm>
            <a:prstGeom prst="line">
              <a:avLst/>
            </a:prstGeom>
            <a:ln w="1524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Oval 221"/>
            <p:cNvSpPr/>
            <p:nvPr/>
          </p:nvSpPr>
          <p:spPr>
            <a:xfrm>
              <a:off x="7223947" y="2960289"/>
              <a:ext cx="175592" cy="186498"/>
            </a:xfrm>
            <a:prstGeom prst="ellipse">
              <a:avLst/>
            </a:prstGeom>
            <a:solidFill>
              <a:srgbClr val="E279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7223947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5</a:t>
              </a:r>
            </a:p>
          </p:txBody>
        </p:sp>
        <p:sp>
          <p:nvSpPr>
            <p:cNvPr id="224" name="Rounded Rectangle 223"/>
            <p:cNvSpPr/>
            <p:nvPr/>
          </p:nvSpPr>
          <p:spPr>
            <a:xfrm>
              <a:off x="7297111" y="3084620"/>
              <a:ext cx="936491" cy="46624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7393203" y="3123843"/>
              <a:ext cx="744306" cy="3877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E27922"/>
                  </a:solidFill>
                  <a:latin typeface="Aptos"/>
                </a:rPr>
                <a:t>TOKENIZE
+ REDACT</a:t>
              </a:r>
            </a:p>
          </p:txBody>
        </p:sp>
        <p:cxnSp>
          <p:nvCxnSpPr>
            <p:cNvPr id="226" name="Connector 49"/>
            <p:cNvCxnSpPr/>
            <p:nvPr/>
          </p:nvCxnSpPr>
          <p:spPr>
            <a:xfrm>
              <a:off x="7114202" y="3317742"/>
              <a:ext cx="182908" cy="0"/>
            </a:xfrm>
            <a:prstGeom prst="line">
              <a:avLst/>
            </a:prstGeom>
            <a:ln w="1524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Oval 226"/>
            <p:cNvSpPr/>
            <p:nvPr/>
          </p:nvSpPr>
          <p:spPr>
            <a:xfrm>
              <a:off x="8306765" y="2960289"/>
              <a:ext cx="175592" cy="186498"/>
            </a:xfrm>
            <a:prstGeom prst="ellipse">
              <a:avLst/>
            </a:prstGeom>
            <a:solidFill>
              <a:srgbClr val="2F82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8306765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6</a:t>
              </a:r>
            </a:p>
          </p:txBody>
        </p:sp>
        <p:sp>
          <p:nvSpPr>
            <p:cNvPr id="229" name="Rounded Rectangle 228"/>
            <p:cNvSpPr/>
            <p:nvPr/>
          </p:nvSpPr>
          <p:spPr>
            <a:xfrm>
              <a:off x="8409194" y="3084620"/>
              <a:ext cx="658470" cy="466244"/>
            </a:xfrm>
            <a:prstGeom prst="roundRect">
              <a:avLst/>
            </a:prstGeom>
            <a:solidFill>
              <a:srgbClr val="F1F9F5"/>
            </a:solidFill>
            <a:ln w="13970">
              <a:solidFill>
                <a:srgbClr val="2F82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8401542" y="3146926"/>
              <a:ext cx="673775" cy="341632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2F825B"/>
                  </a:solidFill>
                  <a:latin typeface="Aptos"/>
                </a:rPr>
                <a:t>SANITIZED
STATE</a:t>
              </a:r>
            </a:p>
          </p:txBody>
        </p:sp>
        <p:cxnSp>
          <p:nvCxnSpPr>
            <p:cNvPr id="231" name="Connector 54"/>
            <p:cNvCxnSpPr/>
            <p:nvPr/>
          </p:nvCxnSpPr>
          <p:spPr>
            <a:xfrm>
              <a:off x="8233602" y="3317742"/>
              <a:ext cx="175592" cy="0"/>
            </a:xfrm>
            <a:prstGeom prst="line">
              <a:avLst/>
            </a:prstGeom>
            <a:ln w="15240">
              <a:solidFill>
                <a:srgbClr val="2F82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Rounded Rectangle 242"/>
            <p:cNvSpPr/>
            <p:nvPr/>
          </p:nvSpPr>
          <p:spPr>
            <a:xfrm>
              <a:off x="3302391" y="4001567"/>
              <a:ext cx="5560415" cy="334142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0" name="Connector 96"/>
            <p:cNvCxnSpPr>
              <a:stCxn id="277" idx="0"/>
              <a:endCxn id="276" idx="0"/>
            </p:cNvCxnSpPr>
            <p:nvPr/>
          </p:nvCxnSpPr>
          <p:spPr>
            <a:xfrm>
              <a:off x="4280192" y="5593400"/>
              <a:ext cx="0" cy="0"/>
            </a:xfrm>
            <a:prstGeom prst="line">
              <a:avLst/>
            </a:prstGeom>
            <a:ln w="1143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ctor 125"/>
            <p:cNvCxnSpPr>
              <a:stCxn id="277" idx="1"/>
            </p:cNvCxnSpPr>
            <p:nvPr/>
          </p:nvCxnSpPr>
          <p:spPr>
            <a:xfrm flipH="1">
              <a:off x="3068039" y="5834293"/>
              <a:ext cx="601239" cy="7771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ctor 18"/>
            <p:cNvCxnSpPr>
              <a:stCxn id="188" idx="3"/>
              <a:endCxn id="287" idx="0"/>
            </p:cNvCxnSpPr>
            <p:nvPr/>
          </p:nvCxnSpPr>
          <p:spPr>
            <a:xfrm>
              <a:off x="5080261" y="2307547"/>
              <a:ext cx="98771" cy="526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Isosceles Triangle 285"/>
            <p:cNvSpPr/>
            <p:nvPr/>
          </p:nvSpPr>
          <p:spPr>
            <a:xfrm rot="5400000">
              <a:off x="4261943" y="2280046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Isosceles Triangle 286"/>
            <p:cNvSpPr/>
            <p:nvPr/>
          </p:nvSpPr>
          <p:spPr>
            <a:xfrm rot="5400000">
              <a:off x="5114296" y="2281665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Isosceles Triangle 287"/>
            <p:cNvSpPr/>
            <p:nvPr/>
          </p:nvSpPr>
          <p:spPr>
            <a:xfrm rot="5400000">
              <a:off x="5999572" y="2284577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Isosceles Triangle 288"/>
            <p:cNvSpPr/>
            <p:nvPr/>
          </p:nvSpPr>
          <p:spPr>
            <a:xfrm rot="3926777">
              <a:off x="7426752" y="2198208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Isosceles Triangle 289"/>
            <p:cNvSpPr/>
            <p:nvPr/>
          </p:nvSpPr>
          <p:spPr>
            <a:xfrm rot="7334479">
              <a:off x="7449005" y="2378864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Isosceles Triangle 290"/>
            <p:cNvSpPr/>
            <p:nvPr/>
          </p:nvSpPr>
          <p:spPr>
            <a:xfrm rot="8864455">
              <a:off x="7431308" y="2534347"/>
              <a:ext cx="72174" cy="5609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Isosceles Triangle 291"/>
            <p:cNvSpPr/>
            <p:nvPr/>
          </p:nvSpPr>
          <p:spPr>
            <a:xfrm rot="14518343">
              <a:off x="6768587" y="2643595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3" name="Isosceles Triangle 292"/>
            <p:cNvSpPr/>
            <p:nvPr/>
          </p:nvSpPr>
          <p:spPr>
            <a:xfrm rot="14518343">
              <a:off x="6875693" y="2823900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4" name="Isosceles Triangle 293"/>
            <p:cNvSpPr/>
            <p:nvPr/>
          </p:nvSpPr>
          <p:spPr>
            <a:xfrm rot="15232904">
              <a:off x="6950582" y="2964724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5" name="Isosceles Triangle 294"/>
            <p:cNvSpPr/>
            <p:nvPr/>
          </p:nvSpPr>
          <p:spPr>
            <a:xfrm rot="5400000">
              <a:off x="5643484" y="3291860"/>
              <a:ext cx="76657" cy="5281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Isosceles Triangle 295"/>
            <p:cNvSpPr/>
            <p:nvPr/>
          </p:nvSpPr>
          <p:spPr>
            <a:xfrm rot="5400000">
              <a:off x="7178302" y="3290241"/>
              <a:ext cx="76657" cy="5281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Isosceles Triangle 296"/>
            <p:cNvSpPr/>
            <p:nvPr/>
          </p:nvSpPr>
          <p:spPr>
            <a:xfrm rot="5400000">
              <a:off x="8281252" y="3285737"/>
              <a:ext cx="76657" cy="5281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ounded Rectangle 231"/>
            <p:cNvSpPr/>
            <p:nvPr/>
          </p:nvSpPr>
          <p:spPr>
            <a:xfrm>
              <a:off x="9499328" y="2174365"/>
              <a:ext cx="892593" cy="1445357"/>
            </a:xfrm>
            <a:prstGeom prst="roundRect">
              <a:avLst/>
            </a:prstGeom>
            <a:solidFill>
              <a:srgbClr val="FFF8F1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9531543" y="2283753"/>
              <a:ext cx="813846" cy="433965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pPr algn="ctr"/>
              <a:r>
                <a:rPr sz="1200" b="1" dirty="0">
                  <a:solidFill>
                    <a:srgbClr val="E27922"/>
                  </a:solidFill>
                  <a:latin typeface="Aptos"/>
                </a:rPr>
                <a:t>EGRESS
GATE</a:t>
              </a: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9568662" y="2788240"/>
              <a:ext cx="753924" cy="31085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BE4242"/>
                  </a:solidFill>
                  <a:latin typeface="Aptos"/>
                </a:rPr>
                <a:t>ALLOW ONLY
SANITIZED</a:t>
              </a: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9571067" y="3246102"/>
              <a:ext cx="749115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BE4242"/>
                  </a:solidFill>
                  <a:latin typeface="Aptos"/>
                </a:rPr>
                <a:t>FAIL CLOSED</a:t>
              </a:r>
            </a:p>
          </p:txBody>
        </p:sp>
        <p:sp>
          <p:nvSpPr>
            <p:cNvPr id="238" name="Rounded Rectangle 237"/>
            <p:cNvSpPr/>
            <p:nvPr/>
          </p:nvSpPr>
          <p:spPr>
            <a:xfrm>
              <a:off x="10611412" y="2174365"/>
              <a:ext cx="1448634" cy="1445357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10705327" y="2270920"/>
              <a:ext cx="1300169" cy="495520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235B96"/>
                  </a:solidFill>
                  <a:latin typeface="Aptos"/>
                </a:rPr>
                <a:t>CLOUD REASONER</a:t>
              </a: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10646181" y="2742073"/>
              <a:ext cx="1379096" cy="403187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0" dirty="0">
                  <a:solidFill>
                    <a:srgbClr val="4E6071"/>
                  </a:solidFill>
                  <a:latin typeface="Aptos"/>
                </a:rPr>
                <a:t>LLM / VLM
planning + reasoning</a:t>
              </a:r>
            </a:p>
          </p:txBody>
        </p:sp>
        <p:cxnSp>
          <p:nvCxnSpPr>
            <p:cNvPr id="241" name="Connector 64"/>
            <p:cNvCxnSpPr>
              <a:stCxn id="232" idx="3"/>
              <a:endCxn id="238" idx="1"/>
            </p:cNvCxnSpPr>
            <p:nvPr/>
          </p:nvCxnSpPr>
          <p:spPr>
            <a:xfrm>
              <a:off x="10391921" y="2897044"/>
              <a:ext cx="219491" cy="0"/>
            </a:xfrm>
            <a:prstGeom prst="line">
              <a:avLst/>
            </a:prstGeom>
            <a:ln w="21590">
              <a:solidFill>
                <a:srgbClr val="2F82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/>
            <p:cNvSpPr txBox="1"/>
            <p:nvPr/>
          </p:nvSpPr>
          <p:spPr>
            <a:xfrm>
              <a:off x="9293043" y="1806920"/>
              <a:ext cx="1305161" cy="387798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2F825B"/>
                  </a:solidFill>
                  <a:latin typeface="Aptos"/>
                </a:rPr>
                <a:t>ONLY SANITIZED DATA</a:t>
              </a:r>
            </a:p>
          </p:txBody>
        </p:sp>
        <p:sp>
          <p:nvSpPr>
            <p:cNvPr id="298" name="Isosceles Triangle 297"/>
            <p:cNvSpPr/>
            <p:nvPr/>
          </p:nvSpPr>
          <p:spPr>
            <a:xfrm rot="10800000">
              <a:off x="11333219" y="4042393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10882115" y="4605403"/>
              <a:ext cx="1207195" cy="233122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19" b="1">
                  <a:solidFill>
                    <a:srgbClr val="0C1F35"/>
                  </a:solidFill>
                  <a:latin typeface="Aptos"/>
                </a:rPr>
                <a:t>ACTION PLAN</a:t>
              </a: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10955278" y="4846296"/>
              <a:ext cx="1060869" cy="13987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620" b="0">
                  <a:solidFill>
                    <a:srgbClr val="4E6071"/>
                  </a:solidFill>
                  <a:latin typeface="Aptos"/>
                </a:rPr>
                <a:t>tokens + capabilities</a:t>
              </a:r>
            </a:p>
          </p:txBody>
        </p:sp>
        <p:sp>
          <p:nvSpPr>
            <p:cNvPr id="253" name="Rounded Rectangle 252"/>
            <p:cNvSpPr/>
            <p:nvPr/>
          </p:nvSpPr>
          <p:spPr>
            <a:xfrm>
              <a:off x="10841028" y="4594397"/>
              <a:ext cx="1258410" cy="46624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10938586" y="4581774"/>
              <a:ext cx="1116203" cy="249299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200" b="1" dirty="0">
                  <a:solidFill>
                    <a:srgbClr val="0C1F35"/>
                  </a:solidFill>
                  <a:latin typeface="Aptos"/>
                </a:rPr>
                <a:t>ACTION PLAN</a:t>
              </a:r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10838398" y="4803087"/>
              <a:ext cx="1316579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4E6071"/>
                  </a:solidFill>
                  <a:latin typeface="Aptos"/>
                </a:rPr>
                <a:t>tokens + capabilities</a:t>
              </a:r>
            </a:p>
          </p:txBody>
        </p:sp>
        <p:grpSp>
          <p:nvGrpSpPr>
            <p:cNvPr id="17431" name="Group 17430"/>
            <p:cNvGrpSpPr/>
            <p:nvPr/>
          </p:nvGrpSpPr>
          <p:grpSpPr>
            <a:xfrm>
              <a:off x="8784108" y="4953986"/>
              <a:ext cx="1668124" cy="326371"/>
              <a:chOff x="8893165" y="4282755"/>
              <a:chExt cx="1668124" cy="326371"/>
            </a:xfrm>
          </p:grpSpPr>
          <p:sp>
            <p:nvSpPr>
              <p:cNvPr id="257" name="Rounded Rectangle 256"/>
              <p:cNvSpPr/>
              <p:nvPr/>
            </p:nvSpPr>
            <p:spPr>
              <a:xfrm>
                <a:off x="8893165" y="4282755"/>
                <a:ext cx="1668124" cy="326371"/>
              </a:xfrm>
              <a:prstGeom prst="roundRect">
                <a:avLst/>
              </a:prstGeom>
              <a:solidFill>
                <a:srgbClr val="F4F8FC"/>
              </a:solidFill>
              <a:ln w="13970">
                <a:solidFill>
                  <a:srgbClr val="235B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>
                <a:off x="9000009" y="4336680"/>
                <a:ext cx="1454437" cy="218521"/>
              </a:xfrm>
              <a:prstGeom prst="rect">
                <a:avLst/>
              </a:prstGeom>
              <a:noFill/>
            </p:spPr>
            <p:txBody>
              <a:bodyPr wrap="none" lIns="32004" tIns="32004" rIns="32004" bIns="32004" anchor="ctr">
                <a:spAutoFit/>
              </a:bodyPr>
              <a:lstStyle/>
              <a:p>
                <a:pPr algn="ctr"/>
                <a:r>
                  <a:rPr sz="1000" b="1" dirty="0" smtClean="0">
                    <a:solidFill>
                      <a:srgbClr val="235B96"/>
                    </a:solidFill>
                    <a:latin typeface="Aptos"/>
                  </a:rPr>
                  <a:t>RETURN</a:t>
                </a:r>
                <a:r>
                  <a:rPr lang="en-US" sz="1000" b="1" dirty="0" smtClean="0">
                    <a:solidFill>
                      <a:srgbClr val="235B96"/>
                    </a:solidFill>
                    <a:latin typeface="Aptos"/>
                  </a:rPr>
                  <a:t> TO</a:t>
                </a:r>
                <a:r>
                  <a:rPr sz="1000" b="1" dirty="0" smtClean="0">
                    <a:solidFill>
                      <a:srgbClr val="235B96"/>
                    </a:solidFill>
                    <a:latin typeface="Aptos"/>
                  </a:rPr>
                  <a:t> </a:t>
                </a:r>
                <a:r>
                  <a:rPr sz="1000" b="1" dirty="0">
                    <a:solidFill>
                      <a:srgbClr val="235B96"/>
                    </a:solidFill>
                    <a:latin typeface="Aptos"/>
                  </a:rPr>
                  <a:t>→ LOCAL</a:t>
                </a:r>
              </a:p>
            </p:txBody>
          </p:sp>
        </p:grpSp>
        <p:cxnSp>
          <p:nvCxnSpPr>
            <p:cNvPr id="259" name="Connector 105"/>
            <p:cNvCxnSpPr>
              <a:stCxn id="253" idx="1"/>
              <a:endCxn id="257" idx="3"/>
            </p:cNvCxnSpPr>
            <p:nvPr/>
          </p:nvCxnSpPr>
          <p:spPr>
            <a:xfrm flipH="1">
              <a:off x="10452232" y="4827519"/>
              <a:ext cx="388796" cy="289653"/>
            </a:xfrm>
            <a:prstGeom prst="line">
              <a:avLst/>
            </a:prstGeom>
            <a:ln w="2540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Isosceles Triangle 298"/>
            <p:cNvSpPr/>
            <p:nvPr/>
          </p:nvSpPr>
          <p:spPr>
            <a:xfrm rot="14129887">
              <a:off x="10601210" y="4910021"/>
              <a:ext cx="134773" cy="8793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ounded Rectangle 262"/>
            <p:cNvSpPr/>
            <p:nvPr/>
          </p:nvSpPr>
          <p:spPr>
            <a:xfrm>
              <a:off x="10043335" y="5565961"/>
              <a:ext cx="1617519" cy="637200"/>
            </a:xfrm>
            <a:prstGeom prst="roundRect">
              <a:avLst/>
            </a:prstGeom>
            <a:solidFill>
              <a:srgbClr val="FFF8F1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10194607" y="5612038"/>
              <a:ext cx="1314975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E27922"/>
                  </a:solidFill>
                  <a:latin typeface="Aptos"/>
                </a:rPr>
                <a:t>LOCAL TOKEN VAULT</a:t>
              </a: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10239492" y="5845160"/>
              <a:ext cx="1225207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4E6071"/>
                  </a:solidFill>
                  <a:latin typeface="Aptos"/>
                </a:rPr>
                <a:t>&lt;EMAIL_07&gt; → value</a:t>
              </a:r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9375707" y="5940012"/>
              <a:ext cx="449714" cy="124332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600" b="0" dirty="0">
                  <a:solidFill>
                    <a:srgbClr val="4E6071"/>
                  </a:solidFill>
                  <a:latin typeface="Aptos"/>
                </a:rPr>
                <a:t>resolve</a:t>
              </a: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3323230" y="2558229"/>
              <a:ext cx="2239909" cy="249299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200" b="0" dirty="0">
                  <a:solidFill>
                    <a:srgbClr val="4E6071"/>
                  </a:solidFill>
                  <a:latin typeface="Aptos"/>
                </a:rPr>
                <a:t>page / UI change → re-evaluate</a:t>
              </a:r>
            </a:p>
          </p:txBody>
        </p:sp>
        <p:sp>
          <p:nvSpPr>
            <p:cNvPr id="261" name="Rounded Rectangle 260"/>
            <p:cNvSpPr/>
            <p:nvPr/>
          </p:nvSpPr>
          <p:spPr>
            <a:xfrm>
              <a:off x="7107955" y="5554546"/>
              <a:ext cx="1507165" cy="497327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7117487" y="5693949"/>
              <a:ext cx="1488100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E27922"/>
                  </a:solidFill>
                  <a:latin typeface="Aptos"/>
                </a:rPr>
                <a:t>ACTION SAFETY GATE</a:t>
              </a:r>
            </a:p>
          </p:txBody>
        </p:sp>
        <p:sp>
          <p:nvSpPr>
            <p:cNvPr id="268" name="Rounded Rectangle 267"/>
            <p:cNvSpPr/>
            <p:nvPr/>
          </p:nvSpPr>
          <p:spPr>
            <a:xfrm>
              <a:off x="5242290" y="5515693"/>
              <a:ext cx="1594961" cy="637200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5232402" y="5526956"/>
              <a:ext cx="1614737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0C1F35"/>
                  </a:solidFill>
                  <a:latin typeface="Aptos"/>
                </a:rPr>
                <a:t>EXECUTION ADAPTER</a:t>
              </a: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5285359" y="5740498"/>
              <a:ext cx="718658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2F825B"/>
                  </a:solidFill>
                  <a:latin typeface="Aptos"/>
                </a:rPr>
                <a:t>DOM / A11Y</a:t>
              </a:r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6062987" y="5732804"/>
              <a:ext cx="670568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4E6071"/>
                  </a:solidFill>
                  <a:latin typeface="Aptos"/>
                </a:rPr>
                <a:t>WebMCP*</a:t>
              </a: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5437850" y="5903683"/>
              <a:ext cx="442943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4E6071"/>
                  </a:solidFill>
                  <a:latin typeface="Aptos"/>
                </a:rPr>
                <a:t>default</a:t>
              </a:r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6148850" y="5903683"/>
              <a:ext cx="513475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4E6071"/>
                  </a:solidFill>
                  <a:latin typeface="Aptos"/>
                </a:rPr>
                <a:t>optional</a:t>
              </a:r>
            </a:p>
          </p:txBody>
        </p:sp>
        <p:cxnSp>
          <p:nvCxnSpPr>
            <p:cNvPr id="274" name="Connector 120"/>
            <p:cNvCxnSpPr/>
            <p:nvPr/>
          </p:nvCxnSpPr>
          <p:spPr>
            <a:xfrm flipH="1">
              <a:off x="6837251" y="5803210"/>
              <a:ext cx="270704" cy="0"/>
            </a:xfrm>
            <a:prstGeom prst="line">
              <a:avLst/>
            </a:prstGeom>
            <a:ln w="1778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ctor 121"/>
            <p:cNvCxnSpPr/>
            <p:nvPr/>
          </p:nvCxnSpPr>
          <p:spPr>
            <a:xfrm flipH="1">
              <a:off x="4891105" y="5834293"/>
              <a:ext cx="351185" cy="0"/>
            </a:xfrm>
            <a:prstGeom prst="line">
              <a:avLst/>
            </a:prstGeom>
            <a:ln w="1905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Rounded Rectangle 275"/>
            <p:cNvSpPr/>
            <p:nvPr/>
          </p:nvSpPr>
          <p:spPr>
            <a:xfrm>
              <a:off x="3669278" y="5593400"/>
              <a:ext cx="1221828" cy="481786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3669278" y="5593400"/>
              <a:ext cx="1221828" cy="48178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19" b="1">
                  <a:solidFill>
                    <a:srgbClr val="235B96"/>
                  </a:solidFill>
                  <a:latin typeface="Aptos"/>
                </a:rPr>
                <a:t>REAL BROWSER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3030683" y="5089569"/>
              <a:ext cx="2052357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0" dirty="0">
                  <a:solidFill>
                    <a:srgbClr val="4E6071"/>
                  </a:solidFill>
                  <a:latin typeface="Aptos"/>
                </a:rPr>
                <a:t>page / UI change → re-evaluate locally</a:t>
              </a:r>
            </a:p>
          </p:txBody>
        </p:sp>
        <p:sp>
          <p:nvSpPr>
            <p:cNvPr id="302" name="Isosceles Triangle 301"/>
            <p:cNvSpPr/>
            <p:nvPr/>
          </p:nvSpPr>
          <p:spPr>
            <a:xfrm rot="16006378">
              <a:off x="6901559" y="5754016"/>
              <a:ext cx="134773" cy="87930"/>
            </a:xfrm>
            <a:prstGeom prst="triangle">
              <a:avLst/>
            </a:prstGeom>
            <a:solidFill>
              <a:schemeClr val="accent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Isosceles Triangle 302"/>
            <p:cNvSpPr/>
            <p:nvPr/>
          </p:nvSpPr>
          <p:spPr>
            <a:xfrm rot="16448467">
              <a:off x="5000454" y="5786444"/>
              <a:ext cx="134773" cy="8793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6" name="Connector 59"/>
            <p:cNvCxnSpPr>
              <a:stCxn id="230" idx="3"/>
            </p:cNvCxnSpPr>
            <p:nvPr/>
          </p:nvCxnSpPr>
          <p:spPr>
            <a:xfrm>
              <a:off x="9075317" y="3317742"/>
              <a:ext cx="138673" cy="1"/>
            </a:xfrm>
            <a:prstGeom prst="line">
              <a:avLst/>
            </a:prstGeom>
            <a:ln w="1778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Isosceles Triangle 284"/>
            <p:cNvSpPr/>
            <p:nvPr/>
          </p:nvSpPr>
          <p:spPr>
            <a:xfrm rot="3202444">
              <a:off x="9160348" y="3274371"/>
              <a:ext cx="99969" cy="83871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5" name="Connector 59"/>
            <p:cNvCxnSpPr>
              <a:stCxn id="285" idx="0"/>
              <a:endCxn id="232" idx="1"/>
            </p:cNvCxnSpPr>
            <p:nvPr/>
          </p:nvCxnSpPr>
          <p:spPr>
            <a:xfrm flipV="1">
              <a:off x="9243988" y="2897044"/>
              <a:ext cx="255340" cy="394245"/>
            </a:xfrm>
            <a:prstGeom prst="line">
              <a:avLst/>
            </a:prstGeom>
            <a:ln w="1778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Isosceles Triangle 340"/>
            <p:cNvSpPr/>
            <p:nvPr/>
          </p:nvSpPr>
          <p:spPr>
            <a:xfrm rot="10800000">
              <a:off x="11331898" y="4292819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Isosceles Triangle 341"/>
            <p:cNvSpPr/>
            <p:nvPr/>
          </p:nvSpPr>
          <p:spPr>
            <a:xfrm rot="10800000">
              <a:off x="11333219" y="3810815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6" name="Connector 106"/>
            <p:cNvCxnSpPr>
              <a:stCxn id="263" idx="1"/>
              <a:endCxn id="261" idx="3"/>
            </p:cNvCxnSpPr>
            <p:nvPr/>
          </p:nvCxnSpPr>
          <p:spPr>
            <a:xfrm flipH="1" flipV="1">
              <a:off x="8615120" y="5803210"/>
              <a:ext cx="1428215" cy="81351"/>
            </a:xfrm>
            <a:prstGeom prst="line">
              <a:avLst/>
            </a:prstGeom>
            <a:ln w="15240">
              <a:solidFill>
                <a:srgbClr val="FFC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Isosceles Triangle 300"/>
            <p:cNvSpPr/>
            <p:nvPr/>
          </p:nvSpPr>
          <p:spPr>
            <a:xfrm rot="16465005">
              <a:off x="9537664" y="5817595"/>
              <a:ext cx="125801" cy="93392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0" name="Connector 106"/>
            <p:cNvCxnSpPr>
              <a:stCxn id="257" idx="2"/>
              <a:endCxn id="262" idx="3"/>
            </p:cNvCxnSpPr>
            <p:nvPr/>
          </p:nvCxnSpPr>
          <p:spPr>
            <a:xfrm flipH="1">
              <a:off x="8605587" y="5280357"/>
              <a:ext cx="1012583" cy="522853"/>
            </a:xfrm>
            <a:prstGeom prst="line">
              <a:avLst/>
            </a:prstGeom>
            <a:ln w="15240">
              <a:solidFill>
                <a:srgbClr val="235B9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Isosceles Triangle 299"/>
            <p:cNvSpPr/>
            <p:nvPr/>
          </p:nvSpPr>
          <p:spPr>
            <a:xfrm rot="14577628">
              <a:off x="9065877" y="5478129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3792453" y="4051683"/>
              <a:ext cx="4580292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0C1F35"/>
                  </a:solidFill>
                  <a:latin typeface="Aptos"/>
                </a:rPr>
                <a:t>RAW PRIVATE PIXELS + VALUES NEVER CROSS THE BOUNDARY</a:t>
              </a:r>
            </a:p>
          </p:txBody>
        </p:sp>
        <p:cxnSp>
          <p:nvCxnSpPr>
            <p:cNvPr id="398" name="Connector 125"/>
            <p:cNvCxnSpPr/>
            <p:nvPr/>
          </p:nvCxnSpPr>
          <p:spPr>
            <a:xfrm flipH="1">
              <a:off x="3028479" y="2816517"/>
              <a:ext cx="2867114" cy="0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Connector 125"/>
            <p:cNvCxnSpPr/>
            <p:nvPr/>
          </p:nvCxnSpPr>
          <p:spPr>
            <a:xfrm flipH="1">
              <a:off x="5906105" y="2550192"/>
              <a:ext cx="278860" cy="260094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Connector 125"/>
            <p:cNvCxnSpPr/>
            <p:nvPr/>
          </p:nvCxnSpPr>
          <p:spPr>
            <a:xfrm flipV="1">
              <a:off x="3056711" y="2816517"/>
              <a:ext cx="11329" cy="3017776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Isosceles Triangle 282"/>
            <p:cNvSpPr/>
            <p:nvPr/>
          </p:nvSpPr>
          <p:spPr>
            <a:xfrm>
              <a:off x="2976719" y="4780099"/>
              <a:ext cx="164719" cy="15296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Isosceles Triangle 408"/>
            <p:cNvSpPr/>
            <p:nvPr/>
          </p:nvSpPr>
          <p:spPr>
            <a:xfrm rot="1880462">
              <a:off x="2985679" y="2733807"/>
              <a:ext cx="164719" cy="15296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Isosceles Triangle 409"/>
            <p:cNvSpPr/>
            <p:nvPr/>
          </p:nvSpPr>
          <p:spPr>
            <a:xfrm rot="5400000">
              <a:off x="4941012" y="2743212"/>
              <a:ext cx="164719" cy="15296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4" name="Rectangle 323"/>
          <p:cNvSpPr/>
          <p:nvPr/>
        </p:nvSpPr>
        <p:spPr>
          <a:xfrm>
            <a:off x="2948867" y="1063661"/>
            <a:ext cx="496533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</a:rPr>
              <a:t>Flow Chart(For one successful iteration) </a:t>
            </a:r>
            <a:r>
              <a:rPr lang="en-US" sz="2200" b="1" u="sng" dirty="0">
                <a:solidFill>
                  <a:schemeClr val="tx2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417" name="Slide Number Placeholder 5"/>
          <p:cNvSpPr txBox="1">
            <a:spLocks/>
          </p:cNvSpPr>
          <p:nvPr/>
        </p:nvSpPr>
        <p:spPr>
          <a:xfrm>
            <a:off x="8737600" y="64960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18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419" name="Picture 4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54565" y="4063978"/>
            <a:ext cx="2943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Screen </a:t>
            </a:r>
            <a:r>
              <a:rPr lang="en-US" sz="1600" dirty="0" smtClean="0"/>
              <a:t>capture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DOM + ARIA </a:t>
            </a:r>
            <a:r>
              <a:rPr lang="en-US" sz="1600" dirty="0" smtClean="0"/>
              <a:t>harvesting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OCR / text </a:t>
            </a:r>
            <a:r>
              <a:rPr lang="en-US" sz="1600" dirty="0" smtClean="0"/>
              <a:t>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Face </a:t>
            </a:r>
            <a:r>
              <a:rPr lang="en-US" sz="1600" dirty="0" smtClean="0"/>
              <a:t>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Visual UI / region </a:t>
            </a:r>
            <a:r>
              <a:rPr lang="en-US" sz="1600" dirty="0" smtClean="0"/>
              <a:t>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DOM ↔ Vision reconciliation</a:t>
            </a:r>
          </a:p>
        </p:txBody>
      </p:sp>
      <p:cxnSp>
        <p:nvCxnSpPr>
          <p:cNvPr id="153" name="Connector 112"/>
          <p:cNvCxnSpPr/>
          <p:nvPr/>
        </p:nvCxnSpPr>
        <p:spPr>
          <a:xfrm flipH="1">
            <a:off x="-18514" y="5594840"/>
            <a:ext cx="291750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-30758" y="5573890"/>
            <a:ext cx="28337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>
                <a:solidFill>
                  <a:schemeClr val="tx2"/>
                </a:solidFill>
              </a:rPr>
              <a:t>Model-Agnostic Perception Layer:</a:t>
            </a:r>
            <a:endParaRPr lang="en-US" b="1" u="sng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024" y="6191198"/>
            <a:ext cx="2691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1600" dirty="0" smtClean="0"/>
              <a:t>Pluggable(Adapter-Based)</a:t>
            </a:r>
          </a:p>
          <a:p>
            <a:pPr algn="ctr"/>
            <a:r>
              <a:rPr lang="sv-SE" sz="1600" dirty="0" smtClean="0"/>
              <a:t> </a:t>
            </a:r>
            <a:r>
              <a:rPr lang="sv-SE" sz="1600" dirty="0"/>
              <a:t>OCR • CV • Vision Models</a:t>
            </a:r>
            <a:endParaRPr lang="en-US" sz="16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8529500" y="1043336"/>
            <a:ext cx="3528395" cy="921047"/>
            <a:chOff x="8527859" y="1179794"/>
            <a:chExt cx="3402399" cy="839992"/>
          </a:xfrm>
        </p:grpSpPr>
        <p:sp>
          <p:nvSpPr>
            <p:cNvPr id="12" name="Folded Corner 11"/>
            <p:cNvSpPr/>
            <p:nvPr/>
          </p:nvSpPr>
          <p:spPr>
            <a:xfrm>
              <a:off x="8576995" y="1207050"/>
              <a:ext cx="3353263" cy="792466"/>
            </a:xfrm>
            <a:prstGeom prst="foldedCorner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565653" y="1179794"/>
              <a:ext cx="3016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tx2"/>
                  </a:solidFill>
                </a:rPr>
                <a:t>SOURCE CODE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562479" y="1451537"/>
              <a:ext cx="2317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GitHub · </a:t>
              </a:r>
              <a:r>
                <a:rPr lang="en-US" sz="1400" b="1" dirty="0" err="1"/>
                <a:t>BLx-Ankush</a:t>
              </a:r>
              <a:r>
                <a:rPr lang="en-US" sz="1400" b="1" dirty="0"/>
                <a:t>/AGENT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527859" y="1712009"/>
              <a:ext cx="28449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Code • Architecture • Evaluation</a:t>
              </a: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6130" y="1146105"/>
            <a:ext cx="745656" cy="74565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1881874" y="6526768"/>
            <a:ext cx="833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3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9" name="Title 4"/>
          <p:cNvSpPr txBox="1">
            <a:spLocks/>
          </p:cNvSpPr>
          <p:nvPr/>
        </p:nvSpPr>
        <p:spPr bwMode="auto">
          <a:xfrm>
            <a:off x="10729078" y="515215"/>
            <a:ext cx="390026" cy="39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&amp; Viability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957352"/>
            <a:ext cx="12198777" cy="60137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0" y="6567764"/>
            <a:ext cx="12191999" cy="29023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7" name="Slide Number Placeholder 5"/>
          <p:cNvSpPr txBox="1">
            <a:spLocks/>
          </p:cNvSpPr>
          <p:nvPr/>
        </p:nvSpPr>
        <p:spPr>
          <a:xfrm>
            <a:off x="9326648" y="6530319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8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40" name="Connector 112"/>
          <p:cNvCxnSpPr/>
          <p:nvPr/>
        </p:nvCxnSpPr>
        <p:spPr>
          <a:xfrm flipH="1" flipV="1">
            <a:off x="-6777" y="3667578"/>
            <a:ext cx="6037320" cy="1680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-6778" y="994815"/>
            <a:ext cx="28642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 smtClean="0">
                <a:solidFill>
                  <a:schemeClr val="tx2">
                    <a:lumMod val="75000"/>
                  </a:schemeClr>
                </a:solidFill>
              </a:rPr>
              <a:t>Technical Feasibility :</a:t>
            </a:r>
            <a:endParaRPr lang="en-US" sz="20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3370" y="1324788"/>
            <a:ext cx="61148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Browser-native </a:t>
            </a:r>
            <a:r>
              <a:rPr lang="en-US" b="1" dirty="0" smtClean="0"/>
              <a:t>execution</a:t>
            </a:r>
            <a:r>
              <a:rPr lang="en-US" dirty="0"/>
              <a:t>:</a:t>
            </a:r>
            <a:r>
              <a:rPr lang="en-US" dirty="0" smtClean="0"/>
              <a:t> </a:t>
            </a:r>
          </a:p>
          <a:p>
            <a:r>
              <a:rPr lang="en-US" dirty="0" smtClean="0"/>
              <a:t>          Chrome/Firefox + WebGPU / WASM </a:t>
            </a:r>
            <a:r>
              <a:rPr lang="en-US" dirty="0"/>
              <a:t>fallback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/>
              <a:t>Tiered perception</a:t>
            </a:r>
            <a:r>
              <a:rPr lang="en-US" dirty="0"/>
              <a:t>:  DOM / A11y first → Vision / OCR only where </a:t>
            </a:r>
            <a:r>
              <a:rPr lang="en-US" dirty="0" smtClean="0"/>
              <a:t>required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/>
              <a:t>Local privacy enforcement</a:t>
            </a:r>
            <a:r>
              <a:rPr lang="en-US" dirty="0" smtClean="0"/>
              <a:t>: </a:t>
            </a:r>
          </a:p>
          <a:p>
            <a:r>
              <a:rPr lang="en-US" dirty="0" smtClean="0"/>
              <a:t>          PII/faces/secrets </a:t>
            </a:r>
            <a:r>
              <a:rPr lang="en-US" dirty="0" smtClean="0"/>
              <a:t>→ </a:t>
            </a:r>
            <a:r>
              <a:rPr lang="en-US" dirty="0" smtClean="0"/>
              <a:t>tokenized/redacted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/>
              <a:t>Fail-closed security</a:t>
            </a:r>
            <a:r>
              <a:rPr lang="en-US" dirty="0" smtClean="0"/>
              <a:t>:</a:t>
            </a:r>
          </a:p>
          <a:p>
            <a:r>
              <a:rPr lang="en-US" dirty="0" smtClean="0"/>
              <a:t>         Verified Egress + action safety gate + local execution policy</a:t>
            </a:r>
            <a:endParaRPr lang="en-US" dirty="0"/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528482"/>
              </p:ext>
            </p:extLst>
          </p:nvPr>
        </p:nvGraphicFramePr>
        <p:xfrm>
          <a:off x="6059423" y="1050795"/>
          <a:ext cx="6132576" cy="3474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85279">
                  <a:extLst>
                    <a:ext uri="{9D8B030D-6E8A-4147-A177-3AD203B41FA5}">
                      <a16:colId xmlns:a16="http://schemas.microsoft.com/office/drawing/2014/main" val="383254062"/>
                    </a:ext>
                  </a:extLst>
                </a:gridCol>
                <a:gridCol w="1885279">
                  <a:extLst>
                    <a:ext uri="{9D8B030D-6E8A-4147-A177-3AD203B41FA5}">
                      <a16:colId xmlns:a16="http://schemas.microsoft.com/office/drawing/2014/main" val="2095398349"/>
                    </a:ext>
                  </a:extLst>
                </a:gridCol>
                <a:gridCol w="2362018">
                  <a:extLst>
                    <a:ext uri="{9D8B030D-6E8A-4147-A177-3AD203B41FA5}">
                      <a16:colId xmlns:a16="http://schemas.microsoft.com/office/drawing/2014/main" val="4026321532"/>
                    </a:ext>
                  </a:extLst>
                </a:gridCol>
              </a:tblGrid>
              <a:tr h="34197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RISK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SEVERITY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MITIGATION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048190"/>
                  </a:ext>
                </a:extLst>
              </a:tr>
              <a:tr h="59845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Limited browser compute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🔴 </a:t>
                      </a:r>
                      <a:r>
                        <a:rPr lang="en-US" dirty="0" smtClean="0"/>
                        <a:t>HIGH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Event-driven </a:t>
                      </a:r>
                      <a:r>
                        <a:rPr lang="en-US" dirty="0" smtClean="0"/>
                        <a:t>+</a:t>
                      </a:r>
                      <a:r>
                        <a:rPr lang="en-US" baseline="0" dirty="0" smtClean="0"/>
                        <a:t> tiered perception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405856"/>
                  </a:ext>
                </a:extLst>
              </a:tr>
              <a:tr h="598452">
                <a:tc>
                  <a:txBody>
                    <a:bodyPr/>
                    <a:lstStyle/>
                    <a:p>
                      <a:r>
                        <a:rPr lang="en-US" dirty="0" smtClean="0"/>
                        <a:t>Missed PII / faces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🔴 </a:t>
                      </a:r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Multi-stage detection + conservative policy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968581"/>
                  </a:ext>
                </a:extLst>
              </a:tr>
              <a:tr h="85493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Perception latency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🔴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smtClean="0"/>
                        <a:t>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Tiered</a:t>
                      </a:r>
                      <a:r>
                        <a:rPr lang="en-US" baseline="0" dirty="0" smtClean="0"/>
                        <a:t> inference + selective visual processing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728105"/>
                  </a:ext>
                </a:extLst>
              </a:tr>
              <a:tr h="85493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Privacy leakage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🔴 </a:t>
                      </a:r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Independent</a:t>
                      </a:r>
                      <a:r>
                        <a:rPr lang="en-US" baseline="0" dirty="0" smtClean="0"/>
                        <a:t> egress verification + fail closed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89245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6121146" y="4853285"/>
            <a:ext cx="60776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 smtClean="0"/>
              <a:t>Open-weight models </a:t>
            </a:r>
            <a:r>
              <a:rPr lang="en-US" dirty="0" smtClean="0"/>
              <a:t>: Replaceable </a:t>
            </a:r>
            <a:r>
              <a:rPr lang="en-US" dirty="0"/>
              <a:t>perception </a:t>
            </a:r>
            <a:r>
              <a:rPr lang="en-US" dirty="0" smtClean="0"/>
              <a:t>components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 smtClean="0"/>
              <a:t>Browser-side </a:t>
            </a:r>
            <a:r>
              <a:rPr lang="en-US" sz="2000" b="1" dirty="0"/>
              <a:t>perception</a:t>
            </a:r>
            <a:r>
              <a:rPr lang="en-US" sz="2000" dirty="0"/>
              <a:t> </a:t>
            </a:r>
            <a:r>
              <a:rPr lang="en-US" dirty="0" smtClean="0"/>
              <a:t>: keeps </a:t>
            </a:r>
            <a:r>
              <a:rPr lang="en-US" dirty="0"/>
              <a:t>visual processing </a:t>
            </a:r>
            <a:r>
              <a:rPr lang="en-US" dirty="0" smtClean="0"/>
              <a:t>local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 smtClean="0"/>
              <a:t>Server </a:t>
            </a:r>
            <a:r>
              <a:rPr lang="en-US" sz="2000" b="1" dirty="0"/>
              <a:t>reasoning</a:t>
            </a:r>
            <a:r>
              <a:rPr lang="en-US" sz="2000" dirty="0"/>
              <a:t> </a:t>
            </a:r>
            <a:r>
              <a:rPr lang="en-US" dirty="0" smtClean="0"/>
              <a:t>: </a:t>
            </a:r>
            <a:r>
              <a:rPr lang="en-US" dirty="0"/>
              <a:t>remote component handles computationally heavier planning</a:t>
            </a:r>
            <a:endParaRPr lang="en-US" dirty="0" smtClean="0"/>
          </a:p>
        </p:txBody>
      </p:sp>
      <p:sp>
        <p:nvSpPr>
          <p:cNvPr id="57" name="TextBox 56"/>
          <p:cNvSpPr txBox="1"/>
          <p:nvPr/>
        </p:nvSpPr>
        <p:spPr>
          <a:xfrm>
            <a:off x="6117183" y="4521666"/>
            <a:ext cx="4571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solidFill>
                  <a:schemeClr val="tx2">
                    <a:lumMod val="75000"/>
                  </a:schemeClr>
                </a:solidFill>
              </a:rPr>
              <a:t>Resource </a:t>
            </a:r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</a:rPr>
              <a:t>Viability:</a:t>
            </a:r>
            <a:endParaRPr lang="en-US" sz="22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-6778" y="3684379"/>
            <a:ext cx="49614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</a:rPr>
              <a:t>Scalability</a:t>
            </a:r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: [</a:t>
            </a:r>
            <a:r>
              <a:rPr lang="en-US" sz="2200" u="sng" dirty="0">
                <a:solidFill>
                  <a:schemeClr val="tx2">
                    <a:lumMod val="75000"/>
                  </a:schemeClr>
                </a:solidFill>
              </a:rPr>
              <a:t>Adapter-Based Perception</a:t>
            </a:r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]</a:t>
            </a:r>
            <a:endParaRPr lang="en-US" sz="22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-46623" y="4281059"/>
            <a:ext cx="607716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 smtClean="0"/>
              <a:t>Model-Independent core : </a:t>
            </a:r>
            <a:r>
              <a:rPr lang="en-US" dirty="0" smtClean="0"/>
              <a:t>Swap </a:t>
            </a:r>
            <a:r>
              <a:rPr lang="en-US" dirty="0"/>
              <a:t>perception models without changing the privacy engine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 smtClean="0"/>
              <a:t>Common </a:t>
            </a:r>
            <a:r>
              <a:rPr lang="en-US" sz="2000" b="1" dirty="0"/>
              <a:t>adapter </a:t>
            </a:r>
            <a:r>
              <a:rPr lang="en-US" sz="2000" b="1" dirty="0" smtClean="0"/>
              <a:t>interface : </a:t>
            </a:r>
            <a:r>
              <a:rPr lang="en-US" dirty="0"/>
              <a:t>OCR / face / vision models plug into the same pipeline</a:t>
            </a: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/>
              <a:t>Benchmark-driven </a:t>
            </a:r>
            <a:r>
              <a:rPr lang="en-US" sz="2000" b="1" dirty="0" smtClean="0"/>
              <a:t>selection:</a:t>
            </a:r>
            <a:r>
              <a:rPr lang="en-US" sz="2000" b="1" dirty="0"/>
              <a:t> </a:t>
            </a:r>
            <a:r>
              <a:rPr lang="en-US" dirty="0"/>
              <a:t>Compare accuracy, latency, size and browser backend before deployment</a:t>
            </a:r>
            <a:endParaRPr lang="en-US" b="1" dirty="0" smtClean="0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itle 4"/>
          <p:cNvSpPr txBox="1">
            <a:spLocks/>
          </p:cNvSpPr>
          <p:nvPr/>
        </p:nvSpPr>
        <p:spPr bwMode="auto">
          <a:xfrm>
            <a:off x="10729078" y="515215"/>
            <a:ext cx="390026" cy="39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&amp; Benefits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957352"/>
            <a:ext cx="12198777" cy="60137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1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596730"/>
              </p:ext>
            </p:extLst>
          </p:nvPr>
        </p:nvGraphicFramePr>
        <p:xfrm>
          <a:off x="99250" y="1105115"/>
          <a:ext cx="4959777" cy="4681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153">
                  <a:extLst>
                    <a:ext uri="{9D8B030D-6E8A-4147-A177-3AD203B41FA5}">
                      <a16:colId xmlns:a16="http://schemas.microsoft.com/office/drawing/2014/main" val="3504838109"/>
                    </a:ext>
                  </a:extLst>
                </a:gridCol>
                <a:gridCol w="1720614">
                  <a:extLst>
                    <a:ext uri="{9D8B030D-6E8A-4147-A177-3AD203B41FA5}">
                      <a16:colId xmlns:a16="http://schemas.microsoft.com/office/drawing/2014/main" val="615697177"/>
                    </a:ext>
                  </a:extLst>
                </a:gridCol>
                <a:gridCol w="1771010">
                  <a:extLst>
                    <a:ext uri="{9D8B030D-6E8A-4147-A177-3AD203B41FA5}">
                      <a16:colId xmlns:a16="http://schemas.microsoft.com/office/drawing/2014/main" val="3889316923"/>
                    </a:ext>
                  </a:extLst>
                </a:gridCol>
              </a:tblGrid>
              <a:tr h="61541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Evaluation Metric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Existing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ANTARDRISHTI</a:t>
                      </a:r>
                    </a:p>
                    <a:p>
                      <a:pPr algn="ctr"/>
                      <a:r>
                        <a:rPr lang="en-US" dirty="0" smtClean="0"/>
                        <a:t>(Enhancement)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587949"/>
                  </a:ext>
                </a:extLst>
              </a:tr>
              <a:tr h="1142916">
                <a:tc>
                  <a:txBody>
                    <a:bodyPr/>
                    <a:lstStyle/>
                    <a:p>
                      <a:r>
                        <a:rPr lang="en-US" b="1" dirty="0" smtClean="0"/>
                        <a:t>Visual context accuracy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Cloud/desktop GUI agents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Local multimodal scene understanding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073811"/>
                  </a:ext>
                </a:extLst>
              </a:tr>
              <a:tr h="830215">
                <a:tc>
                  <a:txBody>
                    <a:bodyPr/>
                    <a:lstStyle/>
                    <a:p>
                      <a:r>
                        <a:rPr lang="en-US" b="1" dirty="0" smtClean="0"/>
                        <a:t>PII precision &amp; recall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WebRedact</a:t>
                      </a:r>
                      <a:r>
                        <a:rPr lang="en-US" dirty="0" smtClean="0"/>
                        <a:t> baseline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Multi-stage local detection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42065"/>
                  </a:ext>
                </a:extLst>
              </a:tr>
              <a:tr h="879167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Redaction precision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Existing visual redactors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Policy-controlled redaction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830025"/>
                  </a:ext>
                </a:extLst>
              </a:tr>
              <a:tr h="1142916">
                <a:tc>
                  <a:txBody>
                    <a:bodyPr/>
                    <a:lstStyle/>
                    <a:p>
                      <a:r>
                        <a:rPr lang="en-US" b="1" dirty="0" smtClean="0"/>
                        <a:t>Client resource usage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Host/cloud processing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Browser </a:t>
                      </a:r>
                      <a:r>
                        <a:rPr lang="en-US" dirty="0" smtClean="0"/>
                        <a:t>WebGPU/</a:t>
                      </a:r>
                      <a:r>
                        <a:rPr lang="en-US" dirty="0" err="1" smtClean="0"/>
                        <a:t>WASM+model</a:t>
                      </a:r>
                      <a:r>
                        <a:rPr lang="en-US" dirty="0" smtClean="0"/>
                        <a:t> adapters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004851"/>
                  </a:ext>
                </a:extLst>
              </a:tr>
            </a:tbl>
          </a:graphicData>
        </a:graphic>
      </p:graphicFrame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041" b="89929" l="17047" r="89943">
                        <a14:foregroundMark x1="79101" y1="67201" x2="79101" y2="67201"/>
                        <a14:foregroundMark x1="75464" y1="66934" x2="75464" y2="66934"/>
                        <a14:foregroundMark x1="68688" y1="65419" x2="68688" y2="65419"/>
                        <a14:foregroundMark x1="67903" y1="62389" x2="68973" y2="84581"/>
                        <a14:foregroundMark x1="82240" y1="51248" x2="83024" y2="85027"/>
                        <a14:foregroundMark x1="17903" y1="89037" x2="82596" y2="89483"/>
                        <a14:foregroundMark x1="83096" y1="89127" x2="82810" y2="7041"/>
                        <a14:foregroundMark x1="17332" y1="8378" x2="17190" y2="89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836" y="1135077"/>
            <a:ext cx="5877644" cy="47634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348" b="92773" l="16992" r="83008">
                        <a14:foregroundMark x1="22656" y1="14941" x2="22656" y2="14941"/>
                        <a14:foregroundMark x1="27474" y1="15625" x2="27474" y2="15625"/>
                        <a14:foregroundMark x1="25195" y1="14160" x2="25195" y2="14160"/>
                        <a14:foregroundMark x1="25195" y1="11816" x2="25195" y2="11816"/>
                        <a14:foregroundMark x1="22656" y1="11621" x2="22656" y2="11621"/>
                        <a14:foregroundMark x1="20573" y1="11816" x2="20573" y2="11816"/>
                        <a14:foregroundMark x1="20573" y1="14551" x2="20573" y2="14551"/>
                        <a14:foregroundMark x1="18750" y1="10938" x2="18750" y2="10938"/>
                        <a14:foregroundMark x1="30404" y1="13965" x2="30404" y2="13965"/>
                        <a14:foregroundMark x1="39388" y1="14355" x2="39388" y2="14355"/>
                        <a14:foregroundMark x1="52214" y1="14941" x2="52214" y2="149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034" y="1852753"/>
            <a:ext cx="4548288" cy="3272673"/>
          </a:xfrm>
          <a:prstGeom prst="rect">
            <a:avLst/>
          </a:prstGeom>
        </p:spPr>
      </p:pic>
      <p:cxnSp>
        <p:nvCxnSpPr>
          <p:cNvPr id="22" name="Connector 112"/>
          <p:cNvCxnSpPr/>
          <p:nvPr/>
        </p:nvCxnSpPr>
        <p:spPr>
          <a:xfrm flipH="1">
            <a:off x="-6777" y="6096547"/>
            <a:ext cx="12198776" cy="974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8939" y="6118987"/>
            <a:ext cx="4867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Measured</a:t>
            </a:r>
            <a:r>
              <a:rPr lang="en-US" dirty="0"/>
              <a:t> = ANTARDRISHTI evaluation</a:t>
            </a:r>
          </a:p>
        </p:txBody>
      </p:sp>
      <p:cxnSp>
        <p:nvCxnSpPr>
          <p:cNvPr id="23" name="Connector 112"/>
          <p:cNvCxnSpPr>
            <a:endCxn id="27" idx="0"/>
          </p:cNvCxnSpPr>
          <p:nvPr/>
        </p:nvCxnSpPr>
        <p:spPr>
          <a:xfrm flipH="1">
            <a:off x="6096000" y="6106287"/>
            <a:ext cx="3390" cy="46147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199582" y="6099117"/>
            <a:ext cx="30760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/>
              <a:t>Published</a:t>
            </a:r>
            <a:r>
              <a:rPr lang="en-US" dirty="0"/>
              <a:t> = external research</a:t>
            </a:r>
            <a:endParaRPr lang="en-US" dirty="0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0" y="6567764"/>
            <a:ext cx="12191999" cy="29023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8" name="Slide Number Placeholder 5"/>
          <p:cNvSpPr txBox="1">
            <a:spLocks/>
          </p:cNvSpPr>
          <p:nvPr/>
        </p:nvSpPr>
        <p:spPr>
          <a:xfrm>
            <a:off x="9347199" y="653574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itle 4"/>
          <p:cNvSpPr txBox="1">
            <a:spLocks/>
          </p:cNvSpPr>
          <p:nvPr/>
        </p:nvSpPr>
        <p:spPr bwMode="auto">
          <a:xfrm>
            <a:off x="10729078" y="515215"/>
            <a:ext cx="390026" cy="39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&amp; Analysis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957352"/>
            <a:ext cx="12198777" cy="60137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25"/>
          <p:cNvCxnSpPr/>
          <p:nvPr/>
        </p:nvCxnSpPr>
        <p:spPr>
          <a:xfrm flipV="1">
            <a:off x="5703348" y="1044753"/>
            <a:ext cx="3389" cy="5484911"/>
          </a:xfrm>
          <a:prstGeom prst="line">
            <a:avLst/>
          </a:prstGeom>
          <a:ln w="12700">
            <a:solidFill>
              <a:srgbClr val="1C7A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1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25" name="Connector 125"/>
          <p:cNvCxnSpPr/>
          <p:nvPr/>
        </p:nvCxnSpPr>
        <p:spPr>
          <a:xfrm flipH="1">
            <a:off x="6778" y="3669314"/>
            <a:ext cx="5714997" cy="44982"/>
          </a:xfrm>
          <a:prstGeom prst="line">
            <a:avLst/>
          </a:prstGeom>
          <a:ln w="12700">
            <a:solidFill>
              <a:srgbClr val="1C7A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0" y="1036022"/>
            <a:ext cx="1549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938418"/>
              </p:ext>
            </p:extLst>
          </p:nvPr>
        </p:nvGraphicFramePr>
        <p:xfrm>
          <a:off x="609600" y="3427889"/>
          <a:ext cx="10972800" cy="36576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2389945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795776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0" y="986102"/>
            <a:ext cx="221464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 PROBLEM &amp; GAP: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600" y="1401600"/>
            <a:ext cx="58293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Raw screenshots expose PII to remote GUI agents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DOM-only perception misses </a:t>
            </a:r>
            <a:r>
              <a:rPr lang="en-US" sz="2000" b="1" dirty="0"/>
              <a:t>canvas, images, video, PDFs, iframes &amp; visual overlays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Privacy protection must preserve </a:t>
            </a:r>
            <a:r>
              <a:rPr lang="en-US" sz="2000" b="1" dirty="0"/>
              <a:t>task-relevant visual context</a:t>
            </a:r>
            <a:r>
              <a:rPr lang="en-US" sz="2000" dirty="0"/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641" y="2983646"/>
            <a:ext cx="54855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Research: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4"/>
              </a:rPr>
              <a:t>GUIGuard — Privacy-Preserving GUI Agents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5727699" y="985840"/>
            <a:ext cx="247304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Scattered Solutions: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24118" y="1363370"/>
            <a:ext cx="6057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GUIGuard</a:t>
            </a:r>
            <a:r>
              <a:rPr lang="en-US" dirty="0" smtClean="0"/>
              <a:t>: privacy </a:t>
            </a:r>
            <a:r>
              <a:rPr lang="en-US" dirty="0"/>
              <a:t>recognition → protection → task </a:t>
            </a:r>
            <a:r>
              <a:rPr lang="en-US" dirty="0" smtClean="0"/>
              <a:t>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/>
              <a:t>PrivWeb</a:t>
            </a:r>
            <a:r>
              <a:rPr lang="en-US" dirty="0" smtClean="0"/>
              <a:t>: </a:t>
            </a:r>
            <a:r>
              <a:rPr lang="en-US" dirty="0"/>
              <a:t>local LLM-based interface </a:t>
            </a:r>
            <a:r>
              <a:rPr lang="en-US" dirty="0" smtClean="0"/>
              <a:t>anonymization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CAPED</a:t>
            </a:r>
            <a:r>
              <a:rPr lang="en-US" dirty="0" smtClean="0"/>
              <a:t>: </a:t>
            </a:r>
            <a:r>
              <a:rPr lang="en-US" dirty="0"/>
              <a:t>task-aware selective screenshot </a:t>
            </a:r>
            <a:r>
              <a:rPr lang="en-US" dirty="0" smtClean="0"/>
              <a:t>exposure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/>
              <a:t>WebPII</a:t>
            </a:r>
            <a:r>
              <a:rPr lang="en-US" b="1" dirty="0" smtClean="0"/>
              <a:t>/</a:t>
            </a:r>
            <a:r>
              <a:rPr lang="en-US" b="1" dirty="0" err="1" smtClean="0"/>
              <a:t>WebRedact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  <a:r>
              <a:rPr lang="en-US" dirty="0"/>
              <a:t>visual PII detection &amp; redaction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8557" y="2774957"/>
            <a:ext cx="53568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Research: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hlinkClick r:id="rId5"/>
              </a:rPr>
              <a:t>PrivWeb</a:t>
            </a:r>
            <a:r>
              <a:rPr lang="en-US" dirty="0">
                <a:hlinkClick r:id="rId5"/>
              </a:rPr>
              <a:t> — CHI </a:t>
            </a:r>
            <a:r>
              <a:rPr lang="en-US" dirty="0" smtClean="0">
                <a:hlinkClick r:id="rId5"/>
              </a:rPr>
              <a:t>2026</a:t>
            </a:r>
            <a:r>
              <a:rPr lang="en-US" dirty="0" smtClean="0"/>
              <a:t> ; </a:t>
            </a:r>
            <a:r>
              <a:rPr lang="en-US" dirty="0" smtClean="0">
                <a:hlinkClick r:id="rId6"/>
              </a:rPr>
              <a:t>CAPED </a:t>
            </a:r>
            <a:r>
              <a:rPr lang="en-US" dirty="0">
                <a:hlinkClick r:id="rId6"/>
              </a:rPr>
              <a:t>— </a:t>
            </a:r>
            <a:r>
              <a:rPr lang="en-US" dirty="0" err="1" smtClean="0">
                <a:hlinkClick r:id="rId6"/>
              </a:rPr>
              <a:t>arXiv</a:t>
            </a:r>
            <a:r>
              <a:rPr lang="en-US" dirty="0" smtClean="0"/>
              <a:t> ; </a:t>
            </a:r>
            <a:r>
              <a:rPr lang="en-US" dirty="0" err="1" smtClean="0">
                <a:hlinkClick r:id="rId7"/>
              </a:rPr>
              <a:t>WebPII</a:t>
            </a:r>
            <a:r>
              <a:rPr lang="en-US" dirty="0" smtClean="0">
                <a:hlinkClick r:id="rId7"/>
              </a:rPr>
              <a:t> </a:t>
            </a:r>
            <a:r>
              <a:rPr lang="en-US" dirty="0">
                <a:hlinkClick r:id="rId7"/>
              </a:rPr>
              <a:t>— </a:t>
            </a:r>
            <a:r>
              <a:rPr lang="en-US" dirty="0" err="1">
                <a:hlinkClick r:id="rId7"/>
              </a:rPr>
              <a:t>arXiv</a:t>
            </a:r>
            <a:endParaRPr lang="en-US" dirty="0"/>
          </a:p>
          <a:p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0" y="3711142"/>
            <a:ext cx="392145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BENCHMARK: (Published results)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1600" y="4180405"/>
            <a:ext cx="5829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WebRedact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b="1" dirty="0"/>
              <a:t>0.753 mAP@50 </a:t>
            </a:r>
            <a:r>
              <a:rPr lang="en-US" dirty="0"/>
              <a:t>at ~20 </a:t>
            </a:r>
            <a:r>
              <a:rPr lang="en-US" dirty="0" err="1"/>
              <a:t>ms</a:t>
            </a:r>
            <a:r>
              <a:rPr lang="en-US" dirty="0"/>
              <a:t> </a:t>
            </a:r>
            <a:r>
              <a:rPr lang="en-US" dirty="0" smtClean="0"/>
              <a:t>CPU.</a:t>
            </a:r>
            <a:r>
              <a:rPr lang="en-US" baseline="30000" dirty="0" smtClean="0">
                <a:hlinkClick r:id="rId8"/>
              </a:rPr>
              <a:t>1</a:t>
            </a:r>
            <a:endParaRPr lang="en-US" baseline="30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CAPED:</a:t>
            </a:r>
            <a:r>
              <a:rPr lang="en-US" dirty="0"/>
              <a:t> seeded leakage reduced </a:t>
            </a:r>
            <a:r>
              <a:rPr lang="en-US" b="1" dirty="0"/>
              <a:t>0.766 → </a:t>
            </a:r>
            <a:r>
              <a:rPr lang="en-US" b="1" dirty="0" smtClean="0"/>
              <a:t>0.268</a:t>
            </a:r>
            <a:r>
              <a:rPr lang="en-US" dirty="0" smtClean="0"/>
              <a:t>.</a:t>
            </a:r>
            <a:r>
              <a:rPr lang="en-US" baseline="30000" dirty="0" smtClean="0">
                <a:hlinkClick r:id="rId6"/>
              </a:rPr>
              <a:t>2</a:t>
            </a:r>
            <a:endParaRPr lang="en-US" baseline="30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GUIGuard:</a:t>
            </a:r>
            <a:r>
              <a:rPr lang="en-US" dirty="0"/>
              <a:t> privacy recognition remains a major </a:t>
            </a:r>
            <a:r>
              <a:rPr lang="en-US" dirty="0" smtClean="0"/>
              <a:t>bottleneck.</a:t>
            </a:r>
            <a:r>
              <a:rPr lang="en-US" baseline="30000" dirty="0" smtClean="0">
                <a:hlinkClick r:id="rId4"/>
              </a:rPr>
              <a:t>3</a:t>
            </a:r>
            <a:endParaRPr lang="en-US" baseline="30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Sema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b="1" dirty="0"/>
              <a:t>130–210</a:t>
            </a:r>
            <a:r>
              <a:rPr lang="en-US" dirty="0"/>
              <a:t>× lower screenshot uplink, ≤0.7 pp accuracy </a:t>
            </a:r>
            <a:r>
              <a:rPr lang="en-US" dirty="0" smtClean="0"/>
              <a:t>loss.</a:t>
            </a:r>
            <a:r>
              <a:rPr lang="en-US" baseline="30000" dirty="0" smtClean="0">
                <a:hlinkClick r:id="rId9"/>
              </a:rPr>
              <a:t>4</a:t>
            </a:r>
            <a:endParaRPr lang="en-US" baseline="30000" dirty="0"/>
          </a:p>
        </p:txBody>
      </p:sp>
      <p:sp>
        <p:nvSpPr>
          <p:cNvPr id="40" name="TextBox 39"/>
          <p:cNvSpPr txBox="1"/>
          <p:nvPr/>
        </p:nvSpPr>
        <p:spPr>
          <a:xfrm>
            <a:off x="191364" y="5829300"/>
            <a:ext cx="5383936" cy="637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5721775" y="3362762"/>
            <a:ext cx="18004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Our </a:t>
            </a:r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</a:rPr>
              <a:t>Research</a:t>
            </a:r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91364" y="5824560"/>
            <a:ext cx="57395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Research: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hlinkClick r:id="rId7"/>
              </a:rPr>
              <a:t>WebPII</a:t>
            </a:r>
            <a:r>
              <a:rPr lang="en-US" dirty="0">
                <a:hlinkClick r:id="rId7"/>
              </a:rPr>
              <a:t> / </a:t>
            </a:r>
            <a:r>
              <a:rPr lang="en-US" dirty="0" err="1">
                <a:hlinkClick r:id="rId7"/>
              </a:rPr>
              <a:t>WebRedact</a:t>
            </a:r>
            <a:r>
              <a:rPr lang="en-US" dirty="0"/>
              <a:t> </a:t>
            </a:r>
            <a:r>
              <a:rPr lang="en-US" dirty="0" smtClean="0"/>
              <a:t>·</a:t>
            </a:r>
            <a:r>
              <a:rPr lang="en-US" dirty="0" smtClean="0">
                <a:hlinkClick r:id="rId6"/>
              </a:rPr>
              <a:t>CAPED</a:t>
            </a:r>
            <a:r>
              <a:rPr lang="en-US" dirty="0" smtClean="0"/>
              <a:t> ·</a:t>
            </a:r>
            <a:r>
              <a:rPr lang="en-US" dirty="0" smtClean="0">
                <a:hlinkClick r:id="rId4"/>
              </a:rPr>
              <a:t>GUIGuard</a:t>
            </a:r>
            <a:r>
              <a:rPr lang="en-US" dirty="0" smtClean="0"/>
              <a:t> ·</a:t>
            </a:r>
            <a:r>
              <a:rPr lang="en-US" dirty="0" err="1" smtClean="0">
                <a:hlinkClick r:id="rId11"/>
              </a:rPr>
              <a:t>Sema</a:t>
            </a:r>
            <a:endParaRPr lang="en-US" dirty="0"/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0" y="6567764"/>
            <a:ext cx="12191999" cy="29023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3" name="Slide Number Placeholder 5"/>
          <p:cNvSpPr txBox="1">
            <a:spLocks/>
          </p:cNvSpPr>
          <p:nvPr/>
        </p:nvSpPr>
        <p:spPr>
          <a:xfrm>
            <a:off x="9340423" y="6532562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782943"/>
              </p:ext>
            </p:extLst>
          </p:nvPr>
        </p:nvGraphicFramePr>
        <p:xfrm>
          <a:off x="5757211" y="3760048"/>
          <a:ext cx="6428012" cy="2410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4006">
                  <a:extLst>
                    <a:ext uri="{9D8B030D-6E8A-4147-A177-3AD203B41FA5}">
                      <a16:colId xmlns:a16="http://schemas.microsoft.com/office/drawing/2014/main" val="3032053859"/>
                    </a:ext>
                  </a:extLst>
                </a:gridCol>
                <a:gridCol w="3214006">
                  <a:extLst>
                    <a:ext uri="{9D8B030D-6E8A-4147-A177-3AD203B41FA5}">
                      <a16:colId xmlns:a16="http://schemas.microsoft.com/office/drawing/2014/main" val="2542987301"/>
                    </a:ext>
                  </a:extLst>
                </a:gridCol>
              </a:tblGrid>
              <a:tr h="44104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RESEARCH FINDING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637200"/>
                  </a:ext>
                </a:extLst>
              </a:tr>
              <a:tr h="65651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DOM</a:t>
                      </a:r>
                      <a:r>
                        <a:rPr lang="en-US" baseline="0" dirty="0" smtClean="0"/>
                        <a:t>-only misses visual webpage content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DOM +</a:t>
                      </a:r>
                      <a:r>
                        <a:rPr lang="en-US" sz="1700" baseline="0" dirty="0" smtClean="0"/>
                        <a:t> A11Y + Vision Multimodal scene understanding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09251"/>
                  </a:ext>
                </a:extLst>
              </a:tr>
              <a:tr h="65651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PII recognition</a:t>
                      </a:r>
                      <a:r>
                        <a:rPr lang="en-US" baseline="0" dirty="0" smtClean="0"/>
                        <a:t> has know failure modes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Deterministic-first tiered perception + verification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956121"/>
                  </a:ext>
                </a:extLst>
              </a:tr>
              <a:tr h="65651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Raw Screenshot exposes sensitive information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Local Sanitization</a:t>
                      </a:r>
                      <a:r>
                        <a:rPr lang="en-US" baseline="0" dirty="0" smtClean="0"/>
                        <a:t> + verified fail-closed egress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826409"/>
                  </a:ext>
                </a:extLst>
              </a:tr>
            </a:tbl>
          </a:graphicData>
        </a:graphic>
      </p:graphicFrame>
      <p:cxnSp>
        <p:nvCxnSpPr>
          <p:cNvPr id="49" name="Connector 125"/>
          <p:cNvCxnSpPr/>
          <p:nvPr/>
        </p:nvCxnSpPr>
        <p:spPr>
          <a:xfrm flipH="1">
            <a:off x="5731089" y="3404658"/>
            <a:ext cx="6467688" cy="29969"/>
          </a:xfrm>
          <a:prstGeom prst="line">
            <a:avLst/>
          </a:prstGeom>
          <a:ln w="12700">
            <a:solidFill>
              <a:srgbClr val="1C7A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28011" y="6195254"/>
            <a:ext cx="6428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Interchangeable model adapters • benchmark-driven selection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8809</TotalTime>
  <Words>839</Words>
  <Application>Microsoft Office PowerPoint</Application>
  <PresentationFormat>Widescreen</PresentationFormat>
  <Paragraphs>205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ＭＳ Ｐゴシック</vt:lpstr>
      <vt:lpstr>Aptos</vt:lpstr>
      <vt:lpstr>Arial</vt:lpstr>
      <vt:lpstr>Calibri</vt:lpstr>
      <vt:lpstr>Garamond</vt:lpstr>
      <vt:lpstr>Roboto</vt:lpstr>
      <vt:lpstr>Roboto Bold</vt:lpstr>
      <vt:lpstr>Times New Roman</vt:lpstr>
      <vt:lpstr>TradeGothic</vt:lpstr>
      <vt:lpstr>Wingdings</vt:lpstr>
      <vt:lpstr>Office Theme</vt:lpstr>
      <vt:lpstr>SMART INDIA HACKATHON 2026</vt:lpstr>
      <vt:lpstr> ANTARDRISHTI</vt:lpstr>
      <vt:lpstr>.</vt:lpstr>
      <vt:lpstr>.</vt:lpstr>
      <vt:lpstr>.</vt:lpstr>
      <vt:lpstr>.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NSPIRA</cp:lastModifiedBy>
  <cp:revision>236</cp:revision>
  <dcterms:created xsi:type="dcterms:W3CDTF">2013-12-12T18:46:50Z</dcterms:created>
  <dcterms:modified xsi:type="dcterms:W3CDTF">2026-09-23T19:36:52Z</dcterms:modified>
  <cp:category/>
</cp:coreProperties>
</file>